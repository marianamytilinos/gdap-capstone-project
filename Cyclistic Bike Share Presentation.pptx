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80" r:id="rId4"/>
    <p:sldId id="281" r:id="rId5"/>
    <p:sldId id="262" r:id="rId6"/>
    <p:sldId id="263" r:id="rId7"/>
    <p:sldId id="264" r:id="rId8"/>
    <p:sldId id="265" r:id="rId9"/>
    <p:sldId id="282" r:id="rId10"/>
    <p:sldId id="266" r:id="rId11"/>
    <p:sldId id="267" r:id="rId12"/>
    <p:sldId id="268" r:id="rId13"/>
    <p:sldId id="269" r:id="rId14"/>
    <p:sldId id="286" r:id="rId15"/>
    <p:sldId id="287" r:id="rId16"/>
    <p:sldId id="288" r:id="rId17"/>
    <p:sldId id="289" r:id="rId18"/>
    <p:sldId id="290" r:id="rId19"/>
    <p:sldId id="283" r:id="rId20"/>
    <p:sldId id="291" r:id="rId21"/>
    <p:sldId id="284" r:id="rId22"/>
    <p:sldId id="279" r:id="rId23"/>
    <p:sldId id="285" r:id="rId24"/>
    <p:sldId id="258" r:id="rId25"/>
    <p:sldId id="257" r:id="rId26"/>
    <p:sldId id="259" r:id="rId27"/>
    <p:sldId id="260" r:id="rId28"/>
    <p:sldId id="270" r:id="rId29"/>
    <p:sldId id="27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A197"/>
    <a:srgbClr val="F7F7F7"/>
    <a:srgbClr val="3AB0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2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133E0-7B57-4972-A401-A2008A83A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8E594B-6CB4-404F-A6D9-CA02A7F2E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D82E9-9DDD-490D-A8D6-4407297EA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45DCA-98E0-4F3C-ACF0-BD7CB4439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C6AD6-D765-4982-B99F-CAA5C514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81932-2140-4F68-8616-1BBE7B5C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34382-CA0D-4DBD-BE24-BCA23C7E8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1F85D5-393D-4E6B-8967-A9CA194FA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F956E-8642-4AFB-953C-6417B610E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12195-8646-4279-A5EB-639CF93C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5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4B5C-B0CB-41DD-AF25-173679468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03706B-F899-45D0-8BE5-5BBECB2E4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DA804-806F-445C-A58A-8998B660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8373D-DE9E-4DC9-BDCD-A51616D2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ABED6-6B2A-4870-ABE6-813A84C7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29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4DFA-9FCD-4201-BD19-D6FED39B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34610-4AEF-4B4F-B31A-705961BD3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7F95-F894-45BB-9D8F-33D58A258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1DB3A-BBC1-436B-A167-1CF00739E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E0228-D22F-499D-8485-0C113A06B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2081A9-D98D-402A-BD3E-14F8889D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56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1F0E-A49A-4435-9ABC-3DD796148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71A63-F7F0-4FCA-A577-CF32B1A38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B7651-006B-4755-9813-886EB8CF5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C49F90-1E85-4549-A7D5-060C17C0F3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C438E-308D-40E6-B2DE-D3DDA10783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3B2765-608F-4387-B3D9-01EABEFB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0980DC-B156-44CC-8688-E3217B1F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CF2240-18D6-4D6D-A181-AD716A8A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8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8CE7-1D4C-48E7-B787-554AF5C7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41CB11-190E-4D1D-AC5D-6A2132E2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0AC8A-DF56-48C6-A98A-C427F86A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ECDC2-E0E9-4EE6-82A4-EA198CFEB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8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B54E35-2C5A-4CD5-AF15-1C690283C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3B8F0-63E6-4E18-812D-A2F348F2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1F6D6-24F5-45AB-A6ED-DF73FF9E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75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2BF-B7FB-4855-B57D-AAAA755EC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89909-9891-4887-B7B0-E5BAB4DA4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A40D3-1846-4AC8-B626-B60C9E457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5B65F-ED39-444C-B814-E17DF3563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0BE95-71D9-4AF0-BD45-B45EB6FBA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0BE3B-1961-4606-A5D9-B4B2CC666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93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5BC1F-EF08-4926-873C-1A02CCCAE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064B5B-7FA1-4FBF-80C1-AB8AFEE9B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9C67C-8669-4A46-9763-6CD3FC101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06833-CC38-4DE4-BD35-BBEF8D49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4C2C5-8772-4319-9C3A-7D6464871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23B02-6A1E-4AC3-B2E7-E4C0EFE9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58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4231-4527-4961-B944-474F7B32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00690F-8EB7-460E-BF51-158FE3278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18131-962A-4CA4-B4E8-FDCE6E1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1464A-4CB6-4417-9839-CE795643F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5074F-6FFC-439F-9893-9CAC667E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84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93896C-A43E-4A17-9D7C-6BF3ED4A0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5DB93-4D82-48FB-AB31-2DDEF9236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274F0-CFC5-44DA-8F46-E7CFCBE8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75395-0078-4BA7-BE83-C8FED0F63911}" type="datetimeFigureOut">
              <a:rPr lang="en-US" smtClean="0"/>
              <a:t>11/27/2021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F74B5-E40E-4032-B257-313C4F00C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1A736-F647-4EB8-B2B9-127BBFEC2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55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EC4602-D3D9-40BA-A4FF-79E02A961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6FBA-DB97-4499-A5F4-A99E8D2EC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B1F8F-2BF2-403A-9D12-B913025F9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575395-0078-4BA7-BE83-C8FED0F63911}" type="datetimeFigureOut">
              <a:rPr lang="en-US" smtClean="0"/>
              <a:t>11/27/2021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EE093-58B4-4419-A3A9-E3DE3E03E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C2C3-E897-4AE2-8F36-6B2BAE824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F8BBC-7CDC-4D0A-B661-6C17CE7B55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73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5A772-C6F2-4C20-A826-127D1A7B5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12558" y="-82533"/>
            <a:ext cx="9144000" cy="2387600"/>
          </a:xfrm>
        </p:spPr>
        <p:txBody>
          <a:bodyPr>
            <a:normAutofit/>
          </a:bodyPr>
          <a:lstStyle/>
          <a:p>
            <a:r>
              <a:rPr lang="es-AR" sz="4800" dirty="0" err="1">
                <a:solidFill>
                  <a:srgbClr val="35A197"/>
                </a:solidFill>
              </a:rPr>
              <a:t>Cyclistic</a:t>
            </a:r>
            <a:r>
              <a:rPr lang="es-AR" sz="4800" dirty="0">
                <a:solidFill>
                  <a:srgbClr val="35A197"/>
                </a:solidFill>
              </a:rPr>
              <a:t> </a:t>
            </a:r>
            <a:r>
              <a:rPr lang="es-AR" sz="4800" dirty="0" err="1">
                <a:solidFill>
                  <a:srgbClr val="35A197"/>
                </a:solidFill>
              </a:rPr>
              <a:t>Bike</a:t>
            </a:r>
            <a:r>
              <a:rPr lang="es-AR" sz="4800" dirty="0">
                <a:solidFill>
                  <a:srgbClr val="35A197"/>
                </a:solidFill>
              </a:rPr>
              <a:t> Share</a:t>
            </a:r>
            <a:endParaRPr lang="en-US" sz="4800" dirty="0">
              <a:solidFill>
                <a:srgbClr val="35A197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8C176-F4F0-4448-B0C1-4EF84D911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8478" y="2423687"/>
            <a:ext cx="6224833" cy="479768"/>
          </a:xfrm>
        </p:spPr>
        <p:txBody>
          <a:bodyPr>
            <a:normAutofit/>
          </a:bodyPr>
          <a:lstStyle/>
          <a:p>
            <a:r>
              <a:rPr lang="es-AR" dirty="0" err="1">
                <a:solidFill>
                  <a:schemeClr val="bg2">
                    <a:lumMod val="50000"/>
                  </a:schemeClr>
                </a:solidFill>
              </a:rPr>
              <a:t>Analysis</a:t>
            </a:r>
            <a:r>
              <a:rPr lang="es-AR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AR" dirty="0" err="1">
                <a:solidFill>
                  <a:schemeClr val="bg2">
                    <a:lumMod val="50000"/>
                  </a:schemeClr>
                </a:solidFill>
              </a:rPr>
              <a:t>of</a:t>
            </a:r>
            <a:r>
              <a:rPr lang="es-AR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AR" dirty="0" err="1">
                <a:solidFill>
                  <a:schemeClr val="bg2">
                    <a:lumMod val="50000"/>
                  </a:schemeClr>
                </a:solidFill>
              </a:rPr>
              <a:t>member</a:t>
            </a:r>
            <a:r>
              <a:rPr lang="es-AR" dirty="0">
                <a:solidFill>
                  <a:schemeClr val="bg2">
                    <a:lumMod val="50000"/>
                  </a:schemeClr>
                </a:solidFill>
              </a:rPr>
              <a:t> vs casual </a:t>
            </a:r>
            <a:r>
              <a:rPr lang="es-AR" dirty="0" err="1">
                <a:solidFill>
                  <a:schemeClr val="bg2">
                    <a:lumMod val="50000"/>
                  </a:schemeClr>
                </a:solidFill>
              </a:rPr>
              <a:t>riding</a:t>
            </a:r>
            <a:r>
              <a:rPr lang="es-AR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AR" dirty="0" err="1">
                <a:solidFill>
                  <a:schemeClr val="bg2">
                    <a:lumMod val="50000"/>
                  </a:schemeClr>
                </a:solidFill>
              </a:rPr>
              <a:t>patterns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975B848D-BFC9-448D-98DD-C091AFD0F2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4" t="12927" r="19008" b="14053"/>
          <a:stretch/>
        </p:blipFill>
        <p:spPr>
          <a:xfrm>
            <a:off x="8097624" y="1378339"/>
            <a:ext cx="1526305" cy="1538998"/>
          </a:xfrm>
          <a:prstGeom prst="ellipse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C72373A9-43AD-4817-B876-2F685AA7C355}"/>
              </a:ext>
            </a:extLst>
          </p:cNvPr>
          <p:cNvSpPr txBox="1">
            <a:spLocks/>
          </p:cNvSpPr>
          <p:nvPr/>
        </p:nvSpPr>
        <p:spPr>
          <a:xfrm>
            <a:off x="714178" y="4694548"/>
            <a:ext cx="7543702" cy="1442301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70000"/>
              </a:lnSpc>
            </a:pP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Presented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by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: Mariana Mytiliños</a:t>
            </a:r>
          </a:p>
          <a:p>
            <a:pPr algn="l">
              <a:lnSpc>
                <a:spcPct val="170000"/>
              </a:lnSpc>
            </a:pP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Last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updated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November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 27, 2021</a:t>
            </a:r>
          </a:p>
          <a:p>
            <a:pPr algn="l">
              <a:lnSpc>
                <a:spcPct val="170000"/>
              </a:lnSpc>
            </a:pP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Google Data </a:t>
            </a: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Analytics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 Professional </a:t>
            </a: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Certificate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dirty="0" err="1">
                <a:solidFill>
                  <a:schemeClr val="bg1">
                    <a:lumMod val="50000"/>
                  </a:schemeClr>
                </a:solidFill>
              </a:rPr>
              <a:t>Capstone</a:t>
            </a:r>
            <a:r>
              <a:rPr lang="es-AR" dirty="0">
                <a:solidFill>
                  <a:schemeClr val="bg1">
                    <a:lumMod val="50000"/>
                  </a:schemeClr>
                </a:solidFill>
              </a:rPr>
              <a:t> Project</a:t>
            </a:r>
          </a:p>
          <a:p>
            <a:endParaRPr lang="es-AR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855F27-4C9D-480F-9D75-02390FC9D6D7}"/>
              </a:ext>
            </a:extLst>
          </p:cNvPr>
          <p:cNvCxnSpPr>
            <a:cxnSpLocks/>
          </p:cNvCxnSpPr>
          <p:nvPr/>
        </p:nvCxnSpPr>
        <p:spPr>
          <a:xfrm>
            <a:off x="886120" y="1378338"/>
            <a:ext cx="0" cy="1525117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9D11D902-F399-453F-85CE-BE0E920E71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24" t="12927" r="19008" b="14053"/>
          <a:stretch/>
        </p:blipFill>
        <p:spPr>
          <a:xfrm>
            <a:off x="8097624" y="3213109"/>
            <a:ext cx="1526305" cy="153899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255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7028" y="364945"/>
            <a:ext cx="10515600" cy="1325563"/>
          </a:xfrm>
        </p:spPr>
        <p:txBody>
          <a:bodyPr>
            <a:normAutofit/>
          </a:bodyPr>
          <a:lstStyle/>
          <a:p>
            <a:r>
              <a:rPr lang="es-AR" sz="3600" dirty="0">
                <a:solidFill>
                  <a:schemeClr val="bg2">
                    <a:lumMod val="50000"/>
                  </a:schemeClr>
                </a:solidFill>
              </a:rPr>
              <a:t>Table </a:t>
            </a:r>
            <a:r>
              <a:rPr lang="es-AR" sz="3600" dirty="0" err="1">
                <a:solidFill>
                  <a:schemeClr val="bg2">
                    <a:lumMod val="50000"/>
                  </a:schemeClr>
                </a:solidFill>
              </a:rPr>
              <a:t>of</a:t>
            </a:r>
            <a:r>
              <a:rPr lang="es-AR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AR" sz="3600" dirty="0" err="1">
                <a:solidFill>
                  <a:schemeClr val="bg2">
                    <a:lumMod val="50000"/>
                  </a:schemeClr>
                </a:solidFill>
              </a:rPr>
              <a:t>contents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E749A-4E73-46B5-862A-ED812C551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591" y="2139704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Member vs Casual rides by day of the week	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Member vs Casual rides by month	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Members vs Casual riders bike type selection	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Members vs Casual riders location	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Conclusion	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Going forward</a:t>
            </a:r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H="1">
            <a:off x="2667001" y="229828"/>
            <a:ext cx="6627827" cy="0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258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608" y="364945"/>
            <a:ext cx="4966874" cy="1325563"/>
          </a:xfrm>
        </p:spPr>
        <p:txBody>
          <a:bodyPr>
            <a:normAutofit/>
          </a:bodyPr>
          <a:lstStyle/>
          <a:p>
            <a:r>
              <a:rPr lang="es-AR" sz="3600" dirty="0" err="1">
                <a:solidFill>
                  <a:schemeClr val="bg2">
                    <a:lumMod val="50000"/>
                  </a:schemeClr>
                </a:solidFill>
                <a:ea typeface="Roboto" panose="02000000000000000000" pitchFamily="2" charset="0"/>
              </a:rPr>
              <a:t>Objective</a:t>
            </a:r>
            <a:endParaRPr lang="en-US" sz="3600" dirty="0">
              <a:solidFill>
                <a:schemeClr val="bg2">
                  <a:lumMod val="50000"/>
                </a:schemeClr>
              </a:solidFill>
              <a:ea typeface="Roboto" panose="0200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E749A-4E73-46B5-862A-ED812C551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101" y="2506662"/>
            <a:ext cx="10515600" cy="4351338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s-AR" dirty="0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Business </a:t>
            </a:r>
            <a:r>
              <a:rPr lang="es-AR" dirty="0" err="1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objective</a:t>
            </a:r>
            <a:r>
              <a:rPr lang="es-AR" dirty="0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: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Maximizing the number of </a:t>
            </a: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annual members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.</a:t>
            </a:r>
            <a:endParaRPr lang="es-AR" dirty="0">
              <a:solidFill>
                <a:schemeClr val="bg2">
                  <a:lumMod val="50000"/>
                </a:schemeClr>
              </a:solidFill>
              <a:latin typeface="+mj-lt"/>
              <a:ea typeface="Roboto" panose="02000000000000000000" pitchFamily="2" charset="0"/>
              <a:cs typeface="+mj-cs"/>
            </a:endParaRPr>
          </a:p>
          <a:p>
            <a:pPr marL="0" indent="0">
              <a:buNone/>
            </a:pPr>
            <a:endParaRPr lang="es-AR" dirty="0">
              <a:latin typeface="+mj-lt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s-AR" dirty="0" err="1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Guiding</a:t>
            </a:r>
            <a:r>
              <a:rPr lang="es-AR" dirty="0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 </a:t>
            </a:r>
            <a:r>
              <a:rPr lang="es-AR" dirty="0" err="1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question</a:t>
            </a:r>
            <a:r>
              <a:rPr lang="es-AR" dirty="0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: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How do annual members and casual riders use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Cyclistic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j-lt"/>
                <a:ea typeface="Roboto" panose="02000000000000000000" pitchFamily="2" charset="0"/>
                <a:cs typeface="+mj-cs"/>
              </a:rPr>
              <a:t> bikes differently?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H="1">
            <a:off x="2667001" y="229828"/>
            <a:ext cx="6627827" cy="0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994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576" y="2514049"/>
            <a:ext cx="4966874" cy="1325563"/>
          </a:xfrm>
        </p:spPr>
        <p:txBody>
          <a:bodyPr>
            <a:noAutofit/>
          </a:bodyPr>
          <a:lstStyle/>
          <a:p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Member</a:t>
            </a: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 vs </a:t>
            </a:r>
            <a:br>
              <a:rPr lang="es-AR" sz="5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casual </a:t>
            </a: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rides</a:t>
            </a:r>
            <a:endParaRPr lang="en-US" sz="5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V="1">
            <a:off x="1648906" y="1414020"/>
            <a:ext cx="0" cy="3525623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493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37BA6F-6191-4298-B499-ECC2B42E4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0" name="Picture 30">
            <a:extLst>
              <a:ext uri="{FF2B5EF4-FFF2-40B4-BE49-F238E27FC236}">
                <a16:creationId xmlns:a16="http://schemas.microsoft.com/office/drawing/2014/main" id="{C25DF13B-5A02-46FA-ABC2-4FE32C221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7" b="2867"/>
          <a:stretch/>
        </p:blipFill>
        <p:spPr bwMode="auto">
          <a:xfrm>
            <a:off x="1535409" y="1572519"/>
            <a:ext cx="3751240" cy="371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31">
            <a:extLst>
              <a:ext uri="{FF2B5EF4-FFF2-40B4-BE49-F238E27FC236}">
                <a16:creationId xmlns:a16="http://schemas.microsoft.com/office/drawing/2014/main" id="{8CE6C445-BC25-436C-B3C1-E19F9EF25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51532" y="1572519"/>
            <a:ext cx="3751240" cy="3712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7">
            <a:extLst>
              <a:ext uri="{FF2B5EF4-FFF2-40B4-BE49-F238E27FC236}">
                <a16:creationId xmlns:a16="http://schemas.microsoft.com/office/drawing/2014/main" id="{20D6BACE-1584-457D-88F1-86261F789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3C324748-369C-4DC7-AA49-64C96B7C4E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409" y="5665642"/>
            <a:ext cx="546694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1: Member and casual rides per day of the week.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F3DCD6F-9C52-4933-8E2F-3D1C1F174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5409" y="606528"/>
            <a:ext cx="66470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Member and casual rides per day of the week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93699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>
            <a:extLst>
              <a:ext uri="{FF2B5EF4-FFF2-40B4-BE49-F238E27FC236}">
                <a16:creationId xmlns:a16="http://schemas.microsoft.com/office/drawing/2014/main" id="{65B242DB-BD08-4A0F-9849-0AFF08E7D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8" b="4228"/>
          <a:stretch/>
        </p:blipFill>
        <p:spPr bwMode="auto">
          <a:xfrm>
            <a:off x="1545405" y="1511513"/>
            <a:ext cx="3460227" cy="3834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5">
            <a:extLst>
              <a:ext uri="{FF2B5EF4-FFF2-40B4-BE49-F238E27FC236}">
                <a16:creationId xmlns:a16="http://schemas.microsoft.com/office/drawing/2014/main" id="{CF1F1305-1335-4425-AFD3-A0EA68E7F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" r="1484"/>
          <a:stretch/>
        </p:blipFill>
        <p:spPr bwMode="auto">
          <a:xfrm>
            <a:off x="5874417" y="1511513"/>
            <a:ext cx="3375570" cy="3834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B796D7-C306-4489-AB47-93A239EEB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8C7C3-1D7A-4261-8D9C-F99D3C61B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137" y="5641105"/>
            <a:ext cx="6111065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2: Member and casual average ride length per day of the week.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8438B26-55CE-4776-9018-786AC8B4B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137" y="665456"/>
            <a:ext cx="7798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Member and casual average ride length per day of the week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0786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>
            <a:extLst>
              <a:ext uri="{FF2B5EF4-FFF2-40B4-BE49-F238E27FC236}">
                <a16:creationId xmlns:a16="http://schemas.microsoft.com/office/drawing/2014/main" id="{422B40AD-C5BF-489C-B1F2-4EFF65C88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2494" y="1527173"/>
            <a:ext cx="4701869" cy="3671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9">
            <a:extLst>
              <a:ext uri="{FF2B5EF4-FFF2-40B4-BE49-F238E27FC236}">
                <a16:creationId xmlns:a16="http://schemas.microsoft.com/office/drawing/2014/main" id="{26A7C5B8-20C8-47DE-930A-1D1850EE5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172200" y="1534682"/>
            <a:ext cx="4701869" cy="366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3B4BA-E5D1-4599-BA68-9158A7834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C72BD8-5716-4DEF-84F9-40A126C6B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494" y="5628152"/>
            <a:ext cx="8210144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3: Member and casual number of rides and average ride length per spring and summer months.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07579B7-E1E2-44E4-AED5-3E327E80A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494" y="655502"/>
            <a:ext cx="7798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Member and casual rides per spring and summer months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83249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0">
            <a:extLst>
              <a:ext uri="{FF2B5EF4-FFF2-40B4-BE49-F238E27FC236}">
                <a16:creationId xmlns:a16="http://schemas.microsoft.com/office/drawing/2014/main" id="{9C25968B-6103-4049-AB40-2B46A27AAA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4"/>
          <a:stretch/>
        </p:blipFill>
        <p:spPr bwMode="auto">
          <a:xfrm>
            <a:off x="1016796" y="1534769"/>
            <a:ext cx="4742981" cy="370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7" name="Picture 12">
            <a:extLst>
              <a:ext uri="{FF2B5EF4-FFF2-40B4-BE49-F238E27FC236}">
                <a16:creationId xmlns:a16="http://schemas.microsoft.com/office/drawing/2014/main" id="{290A6CCC-8BA3-40C1-9523-F9A241D6A1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4"/>
          <a:stretch/>
        </p:blipFill>
        <p:spPr bwMode="auto">
          <a:xfrm>
            <a:off x="6247158" y="1534769"/>
            <a:ext cx="4707411" cy="370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16E16040-F9E1-4278-B148-2897CE371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9568DB7-61CD-400E-A84B-DA8EB4EC9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796" y="5618685"/>
            <a:ext cx="807856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4: Member and casual number of rides and average ride length per autumn and winter months. Source: Tableau.</a:t>
            </a:r>
            <a:r>
              <a:rPr lang="en-US" altLang="en-US" sz="1100" dirty="0">
                <a:solidFill>
                  <a:srgbClr val="808080"/>
                </a:solidFill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081F6C5-23E2-4E73-909A-A6B06460C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494" y="655502"/>
            <a:ext cx="77988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Member and casual rides per autumn and winter months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3247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0433" y="2532902"/>
            <a:ext cx="6935481" cy="1325563"/>
          </a:xfrm>
        </p:spPr>
        <p:txBody>
          <a:bodyPr>
            <a:noAutofit/>
          </a:bodyPr>
          <a:lstStyle/>
          <a:p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Member</a:t>
            </a: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 vs casual </a:t>
            </a:r>
            <a:br>
              <a:rPr lang="es-AR" sz="5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bike</a:t>
            </a: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type</a:t>
            </a: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selection</a:t>
            </a:r>
            <a:endParaRPr lang="en-US" sz="5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V="1">
            <a:off x="1648906" y="1414020"/>
            <a:ext cx="0" cy="3525623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810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4" descr="Chart, bubble chart&#10;&#10;Description automatically generated">
            <a:extLst>
              <a:ext uri="{FF2B5EF4-FFF2-40B4-BE49-F238E27FC236}">
                <a16:creationId xmlns:a16="http://schemas.microsoft.com/office/drawing/2014/main" id="{5FD1442B-DCAF-458B-8CC7-AA1F6E039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08" y="1689712"/>
            <a:ext cx="4666764" cy="367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" name="Picture 15" descr="Chart, bubble chart&#10;&#10;Description automatically generated">
            <a:extLst>
              <a:ext uri="{FF2B5EF4-FFF2-40B4-BE49-F238E27FC236}">
                <a16:creationId xmlns:a16="http://schemas.microsoft.com/office/drawing/2014/main" id="{E2960033-8A59-43EB-8F5A-F3A2CAAD0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83422"/>
            <a:ext cx="4903940" cy="368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2EAA8E91-6843-41C5-97D4-6DCA5B04F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25E6109-9238-47D9-9390-B730CC059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308" y="5800584"/>
            <a:ext cx="682881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5: Member and casual bike type selection per spring and summer months. Source: Tableau Online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F01CF8F-26F5-4A92-B381-32CB213FB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307" y="774919"/>
            <a:ext cx="91005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Member and casual bike type selection for spring and summer months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7857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16" descr="Chart, bubble chart&#10;&#10;Description automatically generated">
            <a:extLst>
              <a:ext uri="{FF2B5EF4-FFF2-40B4-BE49-F238E27FC236}">
                <a16:creationId xmlns:a16="http://schemas.microsoft.com/office/drawing/2014/main" id="{7E575406-3B0D-423A-998A-45134F912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587" y="1704975"/>
            <a:ext cx="4733507" cy="3600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5" name="Picture 17" descr="Chart, bubble chart&#10;&#10;Description automatically generated">
            <a:extLst>
              <a:ext uri="{FF2B5EF4-FFF2-40B4-BE49-F238E27FC236}">
                <a16:creationId xmlns:a16="http://schemas.microsoft.com/office/drawing/2014/main" id="{D59A84D1-C267-42C6-916C-EECB65EA8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975" y="1704975"/>
            <a:ext cx="4733507" cy="365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2E28947C-1405-4DC0-964F-A02C55121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D20A6CB-22A8-4500-A5B8-0EFFEB3A0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587" y="5757096"/>
            <a:ext cx="68075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6: Member and casual bike type selection per autumn and winter months. Source: Tableau Online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69BFD47-8EC8-4409-8492-811D23CE0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22" y="786845"/>
            <a:ext cx="91005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Member and casual bike type selection for autumn and winter months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60776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6F07F3D-6608-435B-A8AE-C2F0C73BB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FBEBAB6-E000-4D27-8E41-B93F99CFF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4518" y="6332728"/>
            <a:ext cx="811286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7: Member and casual bike type selection per day of the week for spring and summer months.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Chart, bubble chart&#10;&#10;Description automatically generated">
            <a:extLst>
              <a:ext uri="{FF2B5EF4-FFF2-40B4-BE49-F238E27FC236}">
                <a16:creationId xmlns:a16="http://schemas.microsoft.com/office/drawing/2014/main" id="{76420D8F-A9F7-4C25-B11C-307E15EC0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936" y="228600"/>
            <a:ext cx="3665538" cy="5875528"/>
          </a:xfrm>
          <a:prstGeom prst="rect">
            <a:avLst/>
          </a:prstGeom>
        </p:spPr>
      </p:pic>
      <p:pic>
        <p:nvPicPr>
          <p:cNvPr id="7" name="Picture 6" descr="Chart, bubble chart&#10;&#10;Description automatically generated">
            <a:extLst>
              <a:ext uri="{FF2B5EF4-FFF2-40B4-BE49-F238E27FC236}">
                <a16:creationId xmlns:a16="http://schemas.microsoft.com/office/drawing/2014/main" id="{EBC8A021-938A-4A43-96B4-4E86C30F0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518" y="228600"/>
            <a:ext cx="3665537" cy="587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933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B90C311-344F-466D-8E4B-612688010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9426C42-CF0D-440F-9799-8791DE0A3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668" y="6367789"/>
            <a:ext cx="816772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8: Member and casual bike type selection per day of the week for autumn and winter months.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 descr="Chart, bubble chart&#10;&#10;Description automatically generated">
            <a:extLst>
              <a:ext uri="{FF2B5EF4-FFF2-40B4-BE49-F238E27FC236}">
                <a16:creationId xmlns:a16="http://schemas.microsoft.com/office/drawing/2014/main" id="{26D5D058-AECE-4309-AD8D-076BFB7C9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129" y="228600"/>
            <a:ext cx="3768615" cy="5929008"/>
          </a:xfrm>
          <a:prstGeom prst="rect">
            <a:avLst/>
          </a:prstGeom>
        </p:spPr>
      </p:pic>
      <p:pic>
        <p:nvPicPr>
          <p:cNvPr id="7" name="Picture 6" descr="Chart, bubble chart&#10;&#10;Description automatically generated">
            <a:extLst>
              <a:ext uri="{FF2B5EF4-FFF2-40B4-BE49-F238E27FC236}">
                <a16:creationId xmlns:a16="http://schemas.microsoft.com/office/drawing/2014/main" id="{F170CFC1-3247-4A91-87E4-63C5FA3067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668" y="228601"/>
            <a:ext cx="3585995" cy="592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675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0433" y="2532902"/>
            <a:ext cx="6935481" cy="1325563"/>
          </a:xfrm>
        </p:spPr>
        <p:txBody>
          <a:bodyPr>
            <a:noAutofit/>
          </a:bodyPr>
          <a:lstStyle/>
          <a:p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Member</a:t>
            </a: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 vs casual </a:t>
            </a: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rides</a:t>
            </a:r>
            <a:br>
              <a:rPr lang="es-AR" sz="5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top </a:t>
            </a: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start</a:t>
            </a:r>
            <a:r>
              <a:rPr lang="es-AR" sz="5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stations</a:t>
            </a:r>
            <a:endParaRPr lang="en-US" sz="5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V="1">
            <a:off x="1648906" y="1414020"/>
            <a:ext cx="0" cy="3525623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993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2" descr="Chart&#10;&#10;Description automatically generated">
            <a:extLst>
              <a:ext uri="{FF2B5EF4-FFF2-40B4-BE49-F238E27FC236}">
                <a16:creationId xmlns:a16="http://schemas.microsoft.com/office/drawing/2014/main" id="{3E353984-0388-4D3A-A7C5-4B04AAC630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14"/>
          <a:stretch/>
        </p:blipFill>
        <p:spPr bwMode="auto">
          <a:xfrm>
            <a:off x="1341737" y="2195635"/>
            <a:ext cx="4496323" cy="3502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7" name="Picture 23" descr="Chart&#10;&#10;Description automatically generated">
            <a:extLst>
              <a:ext uri="{FF2B5EF4-FFF2-40B4-BE49-F238E27FC236}">
                <a16:creationId xmlns:a16="http://schemas.microsoft.com/office/drawing/2014/main" id="{A1B8806C-BC13-451A-9355-7DA79A2CB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1"/>
          <a:stretch>
            <a:fillRect/>
          </a:stretch>
        </p:blipFill>
        <p:spPr bwMode="auto">
          <a:xfrm>
            <a:off x="6251643" y="2195635"/>
            <a:ext cx="4520980" cy="3502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A49CBB-2EFD-41C0-BA66-1E29BE29B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3C66ED-B781-45B9-A39F-3ECB68BE4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737" y="5880750"/>
            <a:ext cx="750002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9: Member and casual top 15 start stations for spring and summer months.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7A7F745-D5D6-46C5-8BE1-B2F47A325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794" y="1160232"/>
            <a:ext cx="91005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Member and casual top 15 start stations for spring and summer months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2736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4" descr="Chart&#10;&#10;Description automatically generated">
            <a:extLst>
              <a:ext uri="{FF2B5EF4-FFF2-40B4-BE49-F238E27FC236}">
                <a16:creationId xmlns:a16="http://schemas.microsoft.com/office/drawing/2014/main" id="{4C3F610A-9DB6-46D3-B68B-E650BF38E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436" y="2147812"/>
            <a:ext cx="4538724" cy="347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1" name="Picture 25" descr="Chart, funnel chart&#10;&#10;Description automatically generated">
            <a:extLst>
              <a:ext uri="{FF2B5EF4-FFF2-40B4-BE49-F238E27FC236}">
                <a16:creationId xmlns:a16="http://schemas.microsoft.com/office/drawing/2014/main" id="{324EAE3E-62F7-4974-BCC1-BBCBA5EDC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340" y="2140947"/>
            <a:ext cx="4425760" cy="347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010E113F-671E-4981-9825-103CA4003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7CEEC2E-00A1-4126-94DF-37A99732B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2008" y="5890961"/>
            <a:ext cx="773348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10: Member and casual top 15 start stations for autumn and winter months. Source: Tableau Online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7259470-0ECD-4700-B449-0F90C4FB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794" y="1160232"/>
            <a:ext cx="91005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Member and casual top 15 start stations for autumn and winter months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2135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6" descr="Chart&#10;&#10;Description automatically generated">
            <a:extLst>
              <a:ext uri="{FF2B5EF4-FFF2-40B4-BE49-F238E27FC236}">
                <a16:creationId xmlns:a16="http://schemas.microsoft.com/office/drawing/2014/main" id="{B626365D-464F-4586-B384-BD24FDC59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306" y="2246319"/>
            <a:ext cx="4409387" cy="345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5" name="Picture 27" descr="Chart, funnel chart&#10;&#10;Description automatically generated">
            <a:extLst>
              <a:ext uri="{FF2B5EF4-FFF2-40B4-BE49-F238E27FC236}">
                <a16:creationId xmlns:a16="http://schemas.microsoft.com/office/drawing/2014/main" id="{FF60C4EB-7007-4B41-8A6E-58F3AFC51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195" y="2246318"/>
            <a:ext cx="4331666" cy="345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D6BFA3F8-4BD4-41EC-863A-A1F61AD75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6068FF1-4956-4F16-BD0A-65C755928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940162"/>
            <a:ext cx="9601200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11: Member and casual top 15 start stations for weekdays. Source: Tableau Online.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E37F63E-A44B-4B0D-8535-5ABFA4D45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263927"/>
            <a:ext cx="91005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Member and casual top 15 start stations for weekdays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15410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8" descr="Chart&#10;&#10;Description automatically generated">
            <a:extLst>
              <a:ext uri="{FF2B5EF4-FFF2-40B4-BE49-F238E27FC236}">
                <a16:creationId xmlns:a16="http://schemas.microsoft.com/office/drawing/2014/main" id="{05BA7795-C7F2-4435-ABE6-C6CC0378D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740" y="2287440"/>
            <a:ext cx="4306113" cy="3297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89" name="Picture 29" descr="Chart&#10;&#10;Description automatically generated">
            <a:extLst>
              <a:ext uri="{FF2B5EF4-FFF2-40B4-BE49-F238E27FC236}">
                <a16:creationId xmlns:a16="http://schemas.microsoft.com/office/drawing/2014/main" id="{69396B9A-22B5-4CF5-B64F-FC92CC686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149" y="2287440"/>
            <a:ext cx="4185589" cy="3297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0F15B300-2E05-4B6A-85EA-34619030C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8E2E878-062C-436D-B42F-44C9E739B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3740" y="5911546"/>
            <a:ext cx="798640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Figure 12: Member and casual top 15 start stations for weekends. Source: Tableau Online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Roboto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D35F05A-8D01-4FD6-AA48-C733DC81C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1961" y="1272753"/>
            <a:ext cx="91005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Member and casual top 15 start stations for weekends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54051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6108" y="393520"/>
            <a:ext cx="4966874" cy="1325563"/>
          </a:xfrm>
        </p:spPr>
        <p:txBody>
          <a:bodyPr>
            <a:normAutofit/>
          </a:bodyPr>
          <a:lstStyle/>
          <a:p>
            <a:r>
              <a:rPr lang="es-AR" sz="3600" dirty="0" err="1">
                <a:solidFill>
                  <a:schemeClr val="bg2">
                    <a:lumMod val="50000"/>
                  </a:schemeClr>
                </a:solidFill>
              </a:rPr>
              <a:t>Conclusions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H="1">
            <a:off x="2667001" y="229828"/>
            <a:ext cx="6627827" cy="0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D7EB952-5960-42A0-A997-FF339E4C38E5}"/>
              </a:ext>
            </a:extLst>
          </p:cNvPr>
          <p:cNvSpPr txBox="1"/>
          <p:nvPr/>
        </p:nvSpPr>
        <p:spPr>
          <a:xfrm>
            <a:off x="1527142" y="2389764"/>
            <a:ext cx="10199801" cy="2455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Common characteristics between members and casual riders: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Similar distribution of rides through the different months of the year.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Peak average ride length in December.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Almost the same bike selection pattern in spring and summer months.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Same top 15 start stations for all months, weekdays and weekends.</a:t>
            </a:r>
          </a:p>
        </p:txBody>
      </p:sp>
    </p:spTree>
    <p:extLst>
      <p:ext uri="{BB962C8B-B14F-4D97-AF65-F5344CB8AC3E}">
        <p14:creationId xmlns:p14="http://schemas.microsoft.com/office/powerpoint/2010/main" val="3395193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6108" y="393520"/>
            <a:ext cx="4966874" cy="1325563"/>
          </a:xfrm>
        </p:spPr>
        <p:txBody>
          <a:bodyPr>
            <a:normAutofit/>
          </a:bodyPr>
          <a:lstStyle/>
          <a:p>
            <a:r>
              <a:rPr lang="es-AR" sz="3600" dirty="0" err="1">
                <a:solidFill>
                  <a:schemeClr val="bg2">
                    <a:lumMod val="50000"/>
                  </a:schemeClr>
                </a:solidFill>
              </a:rPr>
              <a:t>Conclusions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H="1">
            <a:off x="2667001" y="229828"/>
            <a:ext cx="6627827" cy="0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D7EB952-5960-42A0-A997-FF339E4C38E5}"/>
              </a:ext>
            </a:extLst>
          </p:cNvPr>
          <p:cNvSpPr txBox="1"/>
          <p:nvPr/>
        </p:nvSpPr>
        <p:spPr>
          <a:xfrm>
            <a:off x="1432875" y="2165579"/>
            <a:ext cx="10199801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How do annual members and casual riders use </a:t>
            </a:r>
            <a:r>
              <a:rPr lang="en-US" sz="2000" b="1" dirty="0" err="1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Cyclistic</a:t>
            </a:r>
            <a:r>
              <a:rPr lang="en-US" sz="2000" b="1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bikes differently?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Casual riders ride less in autumn and winter months.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Casual riders tend to ride more on weekends.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Casual riders have longer average ride lengths than members.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Casual riders have a higher selection of electric bikes.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The top 3 most frequented start stations for casual riders tend to be at the bottom of the top 15 most frequented start stations for members.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53820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7954" y="383995"/>
            <a:ext cx="4966874" cy="1325563"/>
          </a:xfrm>
        </p:spPr>
        <p:txBody>
          <a:bodyPr>
            <a:normAutofit/>
          </a:bodyPr>
          <a:lstStyle/>
          <a:p>
            <a:r>
              <a:rPr lang="es-AR" sz="3600" dirty="0" err="1">
                <a:solidFill>
                  <a:schemeClr val="bg2">
                    <a:lumMod val="50000"/>
                  </a:schemeClr>
                </a:solidFill>
              </a:rPr>
              <a:t>Proposed</a:t>
            </a:r>
            <a:r>
              <a:rPr lang="es-AR" sz="36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s-AR" sz="3600" dirty="0" err="1">
                <a:solidFill>
                  <a:schemeClr val="bg2">
                    <a:lumMod val="50000"/>
                  </a:schemeClr>
                </a:solidFill>
              </a:rPr>
              <a:t>actions</a:t>
            </a:r>
            <a:endParaRPr lang="en-US" sz="36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H="1">
            <a:off x="2667001" y="229828"/>
            <a:ext cx="6627827" cy="0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9871275-4A3F-4936-A5B4-DCACEBB3182E}"/>
              </a:ext>
            </a:extLst>
          </p:cNvPr>
          <p:cNvSpPr txBox="1"/>
          <p:nvPr/>
        </p:nvSpPr>
        <p:spPr>
          <a:xfrm>
            <a:off x="1711490" y="2467235"/>
            <a:ext cx="10199801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Targeting advertising campaigns, actions and promotions.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Cyclistic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marathons.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Cyclistic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winter holiday campaigns.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Cyclistic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 app.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Enhancing the fleet of electric bikes.</a:t>
            </a:r>
          </a:p>
        </p:txBody>
      </p:sp>
    </p:spTree>
    <p:extLst>
      <p:ext uri="{BB962C8B-B14F-4D97-AF65-F5344CB8AC3E}">
        <p14:creationId xmlns:p14="http://schemas.microsoft.com/office/powerpoint/2010/main" val="2625220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15DB5-1E4C-43F9-9B78-0FF473624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184" y="2766218"/>
            <a:ext cx="4147631" cy="1325563"/>
          </a:xfrm>
        </p:spPr>
        <p:txBody>
          <a:bodyPr>
            <a:normAutofit/>
          </a:bodyPr>
          <a:lstStyle/>
          <a:p>
            <a:r>
              <a:rPr lang="es-AR" sz="6000" b="1" dirty="0" err="1">
                <a:solidFill>
                  <a:srgbClr val="35A197"/>
                </a:solidFill>
              </a:rPr>
              <a:t>Thank</a:t>
            </a:r>
            <a:r>
              <a:rPr lang="es-AR" sz="6000" b="1" dirty="0">
                <a:solidFill>
                  <a:srgbClr val="35A197"/>
                </a:solidFill>
              </a:rPr>
              <a:t> </a:t>
            </a:r>
            <a:r>
              <a:rPr lang="es-AR" sz="6000" b="1" dirty="0" err="1">
                <a:solidFill>
                  <a:srgbClr val="35A197"/>
                </a:solidFill>
              </a:rPr>
              <a:t>you</a:t>
            </a:r>
            <a:r>
              <a:rPr lang="es-AR" sz="6000" b="1" dirty="0">
                <a:solidFill>
                  <a:srgbClr val="35A197"/>
                </a:solidFill>
              </a:rPr>
              <a:t>.</a:t>
            </a:r>
            <a:endParaRPr lang="en-US" sz="6000" b="1" dirty="0">
              <a:solidFill>
                <a:srgbClr val="35A19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512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48C-3E4A-4CD8-906A-8A793524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000" y="1941512"/>
            <a:ext cx="4966874" cy="1325563"/>
          </a:xfrm>
        </p:spPr>
        <p:txBody>
          <a:bodyPr>
            <a:noAutofit/>
          </a:bodyPr>
          <a:lstStyle/>
          <a:p>
            <a:r>
              <a:rPr lang="es-AR" sz="5400" dirty="0" err="1">
                <a:solidFill>
                  <a:schemeClr val="bg1">
                    <a:lumMod val="50000"/>
                  </a:schemeClr>
                </a:solidFill>
              </a:rPr>
              <a:t>Appendix</a:t>
            </a:r>
            <a:endParaRPr lang="en-US" sz="5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33F56B1-4F59-4795-8BCD-9536D824FBE9}"/>
              </a:ext>
            </a:extLst>
          </p:cNvPr>
          <p:cNvCxnSpPr>
            <a:cxnSpLocks/>
          </p:cNvCxnSpPr>
          <p:nvPr/>
        </p:nvCxnSpPr>
        <p:spPr>
          <a:xfrm flipV="1">
            <a:off x="1648906" y="1414020"/>
            <a:ext cx="0" cy="3525623"/>
          </a:xfrm>
          <a:prstGeom prst="line">
            <a:avLst/>
          </a:prstGeom>
          <a:ln w="76200">
            <a:solidFill>
              <a:srgbClr val="35A1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C744E403-EB29-45A0-976E-23245E190191}"/>
              </a:ext>
            </a:extLst>
          </p:cNvPr>
          <p:cNvSpPr txBox="1">
            <a:spLocks/>
          </p:cNvSpPr>
          <p:nvPr/>
        </p:nvSpPr>
        <p:spPr>
          <a:xfrm>
            <a:off x="2689000" y="2928144"/>
            <a:ext cx="581681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000" dirty="0" err="1">
                <a:solidFill>
                  <a:schemeClr val="bg1">
                    <a:lumMod val="50000"/>
                  </a:schemeClr>
                </a:solidFill>
              </a:rPr>
              <a:t>Tableau</a:t>
            </a:r>
            <a:r>
              <a:rPr lang="es-AR" sz="4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AR" sz="4000" dirty="0" err="1">
                <a:solidFill>
                  <a:schemeClr val="bg1">
                    <a:lumMod val="50000"/>
                  </a:schemeClr>
                </a:solidFill>
              </a:rPr>
              <a:t>dashboards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869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69E3271-8F9C-46D4-8AFE-2C7892C2A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98631" y="0"/>
            <a:ext cx="8594736" cy="685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3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ABC021-138B-4457-81DC-A71AF2308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1"/>
          <a:stretch/>
        </p:blipFill>
        <p:spPr>
          <a:xfrm>
            <a:off x="1846565" y="0"/>
            <a:ext cx="8498870" cy="6821729"/>
          </a:xfrm>
        </p:spPr>
      </p:pic>
    </p:spTree>
    <p:extLst>
      <p:ext uri="{BB962C8B-B14F-4D97-AF65-F5344CB8AC3E}">
        <p14:creationId xmlns:p14="http://schemas.microsoft.com/office/powerpoint/2010/main" val="1316855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, bubble chart&#10;&#10;Description automatically generated">
            <a:extLst>
              <a:ext uri="{FF2B5EF4-FFF2-40B4-BE49-F238E27FC236}">
                <a16:creationId xmlns:a16="http://schemas.microsoft.com/office/drawing/2014/main" id="{1A2A1251-710E-4E03-8002-3DC5D671E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926" y="0"/>
            <a:ext cx="8538148" cy="6858000"/>
          </a:xfrm>
        </p:spPr>
      </p:pic>
    </p:spTree>
    <p:extLst>
      <p:ext uri="{BB962C8B-B14F-4D97-AF65-F5344CB8AC3E}">
        <p14:creationId xmlns:p14="http://schemas.microsoft.com/office/powerpoint/2010/main" val="418633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36D6980A-8572-49C2-BE29-0A6CC8299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316" y="0"/>
            <a:ext cx="8403367" cy="6858000"/>
          </a:xfrm>
        </p:spPr>
      </p:pic>
    </p:spTree>
    <p:extLst>
      <p:ext uri="{BB962C8B-B14F-4D97-AF65-F5344CB8AC3E}">
        <p14:creationId xmlns:p14="http://schemas.microsoft.com/office/powerpoint/2010/main" val="3358170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A556EF38-E567-440A-9D08-CDCE8ABD1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038" y="0"/>
            <a:ext cx="84719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195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3FF0761D-257D-444E-8BD7-E22DB6172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133" y="0"/>
            <a:ext cx="8505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94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636</Words>
  <Application>Microsoft Office PowerPoint</Application>
  <PresentationFormat>Widescreen</PresentationFormat>
  <Paragraphs>63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Roboto</vt:lpstr>
      <vt:lpstr>Office Theme</vt:lpstr>
      <vt:lpstr>Cyclistic Bike Share</vt:lpstr>
      <vt:lpstr>Table of contents</vt:lpstr>
      <vt:lpstr>Objective</vt:lpstr>
      <vt:lpstr>Member vs  casual rides</vt:lpstr>
      <vt:lpstr>PowerPoint Presentation</vt:lpstr>
      <vt:lpstr>PowerPoint Presentation</vt:lpstr>
      <vt:lpstr>PowerPoint Presentation</vt:lpstr>
      <vt:lpstr>PowerPoint Presentation</vt:lpstr>
      <vt:lpstr>Member vs casual  bike type selection</vt:lpstr>
      <vt:lpstr>PowerPoint Presentation</vt:lpstr>
      <vt:lpstr>PowerPoint Presentation</vt:lpstr>
      <vt:lpstr>PowerPoint Presentation</vt:lpstr>
      <vt:lpstr>PowerPoint Presentation</vt:lpstr>
      <vt:lpstr>Member vs casual rides top start stations</vt:lpstr>
      <vt:lpstr>PowerPoint Presentation</vt:lpstr>
      <vt:lpstr>PowerPoint Presentation</vt:lpstr>
      <vt:lpstr>PowerPoint Presentation</vt:lpstr>
      <vt:lpstr>PowerPoint Presentation</vt:lpstr>
      <vt:lpstr>Conclusions</vt:lpstr>
      <vt:lpstr>Conclusions</vt:lpstr>
      <vt:lpstr>Proposed actions</vt:lpstr>
      <vt:lpstr>Thank you.</vt:lpstr>
      <vt:lpstr>Appendix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 Share</dc:title>
  <dc:creator>Mytiliños, Mariana</dc:creator>
  <cp:lastModifiedBy>Mytiliños, Mariana</cp:lastModifiedBy>
  <cp:revision>46</cp:revision>
  <dcterms:created xsi:type="dcterms:W3CDTF">2021-11-22T12:53:46Z</dcterms:created>
  <dcterms:modified xsi:type="dcterms:W3CDTF">2021-11-27T14:40:09Z</dcterms:modified>
</cp:coreProperties>
</file>