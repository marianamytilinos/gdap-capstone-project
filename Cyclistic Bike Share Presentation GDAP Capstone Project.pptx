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81" r:id="rId3"/>
    <p:sldId id="262" r:id="rId4"/>
    <p:sldId id="263" r:id="rId5"/>
    <p:sldId id="264" r:id="rId6"/>
    <p:sldId id="265" r:id="rId7"/>
    <p:sldId id="282" r:id="rId8"/>
    <p:sldId id="266" r:id="rId9"/>
    <p:sldId id="267" r:id="rId10"/>
    <p:sldId id="268" r:id="rId11"/>
    <p:sldId id="269" r:id="rId12"/>
    <p:sldId id="286" r:id="rId13"/>
    <p:sldId id="287" r:id="rId14"/>
    <p:sldId id="288" r:id="rId15"/>
    <p:sldId id="289" r:id="rId16"/>
    <p:sldId id="290" r:id="rId17"/>
    <p:sldId id="279" r:id="rId18"/>
    <p:sldId id="285" r:id="rId19"/>
    <p:sldId id="258" r:id="rId20"/>
    <p:sldId id="257" r:id="rId21"/>
    <p:sldId id="259" r:id="rId22"/>
    <p:sldId id="260" r:id="rId23"/>
    <p:sldId id="270" r:id="rId24"/>
    <p:sldId id="271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7F7F7"/>
    <a:srgbClr val="35A197"/>
    <a:srgbClr val="3AB0A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8133E0-7B57-4972-A401-A2008A83A3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88E594B-6CB4-404F-A6D9-CA02A7F2E3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DD82E9-9DDD-490D-A8D6-4407297EA8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575395-0078-4BA7-BE83-C8FED0F63911}" type="datetimeFigureOut">
              <a:rPr lang="en-US" smtClean="0"/>
              <a:t>11/22/2021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345DCA-98E0-4F3C-ACF0-BD7CB44395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CC6AD6-D765-4982-B99F-CAA5C51480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F8BBC-7CDC-4D0A-B661-6C17CE7B55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1849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C81932-2140-4F68-8616-1BBE7B5CE9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034382-CA0D-4DBD-BE24-BCA23C7E87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1F85D5-393D-4E6B-8967-A9CA194FAB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575395-0078-4BA7-BE83-C8FED0F63911}" type="datetimeFigureOut">
              <a:rPr lang="en-US" smtClean="0"/>
              <a:t>11/22/2021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8F956E-8642-4AFB-953C-6417B610E5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312195-8646-4279-A5EB-639CF93CDA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F8BBC-7CDC-4D0A-B661-6C17CE7B55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1351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344B5C-B0CB-41DD-AF25-1736794681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03706B-F899-45D0-8BE5-5BBECB2E43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CDA804-806F-445C-A58A-8998B6607B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575395-0078-4BA7-BE83-C8FED0F63911}" type="datetimeFigureOut">
              <a:rPr lang="en-US" smtClean="0"/>
              <a:t>11/22/2021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B8373D-DE9E-4DC9-BDCD-A51616D21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6ABED6-6B2A-4870-ABE6-813A84C71D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F8BBC-7CDC-4D0A-B661-6C17CE7B55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94295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A24DFA-9FCD-4201-BD19-D6FED39B84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834610-4AEF-4B4F-B31A-705961BD3F9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557F95-F894-45BB-9D8F-33D58A2587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11DB3A-BBC1-436B-A167-1CF00739E2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575395-0078-4BA7-BE83-C8FED0F63911}" type="datetimeFigureOut">
              <a:rPr lang="en-US" smtClean="0"/>
              <a:t>11/22/2021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3E0228-D22F-499D-8485-0C113A06BA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2081A9-D98D-402A-BD3E-14F8889D7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F8BBC-7CDC-4D0A-B661-6C17CE7B55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15688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F51F0E-A49A-4435-9ABC-3DD796148C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D71A63-F7F0-4FCA-A577-CF32B1A386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FB7651-006B-4755-9813-886EB8CF53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EC49F90-1E85-4549-A7D5-060C17C0F32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52C438E-308D-40E6-B2DE-D3DDA10783D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43B2765-608F-4387-B3D9-01EABEFBBD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575395-0078-4BA7-BE83-C8FED0F63911}" type="datetimeFigureOut">
              <a:rPr lang="en-US" smtClean="0"/>
              <a:t>11/22/2021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70980DC-B156-44CC-8688-E3217B1F14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CF2240-18D6-4D6D-A181-AD716A8A41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F8BBC-7CDC-4D0A-B661-6C17CE7B55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37867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9C8CE7-1D4C-48E7-B787-554AF5C779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F41CB11-190E-4D1D-AC5D-6A2132E2F4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575395-0078-4BA7-BE83-C8FED0F63911}" type="datetimeFigureOut">
              <a:rPr lang="en-US" smtClean="0"/>
              <a:t>11/22/2021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570AC8A-DF56-48C6-A98A-C427F86A7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C4ECDC2-E0E9-4EE6-82A4-EA198CFEB7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F8BBC-7CDC-4D0A-B661-6C17CE7B55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89868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4B54E35-2C5A-4CD5-AF15-1C690283C4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575395-0078-4BA7-BE83-C8FED0F63911}" type="datetimeFigureOut">
              <a:rPr lang="en-US" smtClean="0"/>
              <a:t>11/22/2021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2E3B8F0-63E6-4E18-812D-A2F348F209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A1F6D6-24F5-45AB-A6ED-DF73FF9E66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F8BBC-7CDC-4D0A-B661-6C17CE7B55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93752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E4E2BF-B7FB-4855-B57D-AAAA755ECA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C89909-9891-4887-B7B0-E5BAB4DA47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7A40D3-1846-4AC8-B626-B60C9E457C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15B65F-ED39-444C-B814-E17DF35632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575395-0078-4BA7-BE83-C8FED0F63911}" type="datetimeFigureOut">
              <a:rPr lang="en-US" smtClean="0"/>
              <a:t>11/22/2021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70BE95-71D9-4AF0-BD45-B45EB6FBA0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D0BE3B-1961-4606-A5D9-B4B2CC666A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F8BBC-7CDC-4D0A-B661-6C17CE7B55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91939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35BC1F-EF08-4926-873C-1A02CCCAE8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B064B5B-7FA1-4FBF-80C1-AB8AFEE9BC9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59C67C-8669-4A46-9763-6CD3FC1019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406833-CC38-4DE4-BD35-BBEF8D4993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575395-0078-4BA7-BE83-C8FED0F63911}" type="datetimeFigureOut">
              <a:rPr lang="en-US" smtClean="0"/>
              <a:t>11/22/2021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A4C2C5-8772-4319-9C3A-7D6464871C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223B02-6A1E-4AC3-B2E7-E4C0EFE981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F8BBC-7CDC-4D0A-B661-6C17CE7B55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55836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BD4231-4527-4961-B944-474F7B3223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F00690F-8EB7-460E-BF51-158FE3278A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518131-962A-4CA4-B4E8-FDCE6E1596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575395-0078-4BA7-BE83-C8FED0F63911}" type="datetimeFigureOut">
              <a:rPr lang="en-US" smtClean="0"/>
              <a:t>11/22/2021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D1464A-4CB6-4417-9839-CE795643FF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F5074F-6FFC-439F-9893-9CAC667E87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F8BBC-7CDC-4D0A-B661-6C17CE7B55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0840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A93896C-A43E-4A17-9D7C-6BF3ED4A091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65DB93-4D82-48FB-AB31-2DDEF92366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A274F0-CFC5-44DA-8F46-E7CFCBE8C0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575395-0078-4BA7-BE83-C8FED0F63911}" type="datetimeFigureOut">
              <a:rPr lang="en-US" smtClean="0"/>
              <a:t>11/22/2021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7F74B5-E40E-4032-B257-313C4F00CD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21A736-F647-4EB8-B2B9-127BBFEC26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F8BBC-7CDC-4D0A-B661-6C17CE7B55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25552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6EC4602-D3D9-40BA-A4FF-79E02A9614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996FBA-DB97-4499-A5F4-A99E8D2EC1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CB1F8F-2BF2-403A-9D12-B913025F946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575395-0078-4BA7-BE83-C8FED0F63911}" type="datetimeFigureOut">
              <a:rPr lang="en-US" smtClean="0"/>
              <a:t>11/22/2021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CEE093-58B4-4419-A3A9-E3DE3E03E6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B3C2C3-E897-4AE2-8F36-6B2BAE8245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FF8BBC-7CDC-4D0A-B661-6C17CE7B55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03734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85A772-C6F2-4C20-A826-127D1A7B55A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712558" y="-82533"/>
            <a:ext cx="9144000" cy="2387600"/>
          </a:xfrm>
        </p:spPr>
        <p:txBody>
          <a:bodyPr>
            <a:normAutofit/>
          </a:bodyPr>
          <a:lstStyle/>
          <a:p>
            <a:r>
              <a:rPr lang="es-AR" sz="4800" dirty="0" err="1">
                <a:solidFill>
                  <a:srgbClr val="35A197"/>
                </a:solidFill>
              </a:rPr>
              <a:t>Cyclistic</a:t>
            </a:r>
            <a:r>
              <a:rPr lang="es-AR" sz="4800" dirty="0">
                <a:solidFill>
                  <a:srgbClr val="35A197"/>
                </a:solidFill>
              </a:rPr>
              <a:t> </a:t>
            </a:r>
            <a:r>
              <a:rPr lang="es-AR" sz="4800" dirty="0" err="1">
                <a:solidFill>
                  <a:srgbClr val="35A197"/>
                </a:solidFill>
              </a:rPr>
              <a:t>Bike</a:t>
            </a:r>
            <a:r>
              <a:rPr lang="es-AR" sz="4800" dirty="0">
                <a:solidFill>
                  <a:srgbClr val="35A197"/>
                </a:solidFill>
              </a:rPr>
              <a:t> Share</a:t>
            </a:r>
            <a:endParaRPr lang="en-US" sz="4800" dirty="0">
              <a:solidFill>
                <a:srgbClr val="35A197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A8C176-F4F0-4448-B0C1-4EF84D911E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58478" y="2423687"/>
            <a:ext cx="6224833" cy="479768"/>
          </a:xfrm>
        </p:spPr>
        <p:txBody>
          <a:bodyPr>
            <a:normAutofit/>
          </a:bodyPr>
          <a:lstStyle/>
          <a:p>
            <a:r>
              <a:rPr lang="es-AR" dirty="0" err="1">
                <a:solidFill>
                  <a:schemeClr val="bg2">
                    <a:lumMod val="50000"/>
                  </a:schemeClr>
                </a:solidFill>
              </a:rPr>
              <a:t>Analysis</a:t>
            </a:r>
            <a:r>
              <a:rPr lang="es-AR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s-AR" dirty="0" err="1">
                <a:solidFill>
                  <a:schemeClr val="bg2">
                    <a:lumMod val="50000"/>
                  </a:schemeClr>
                </a:solidFill>
              </a:rPr>
              <a:t>of</a:t>
            </a:r>
            <a:r>
              <a:rPr lang="es-AR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s-AR" dirty="0" err="1">
                <a:solidFill>
                  <a:schemeClr val="bg2">
                    <a:lumMod val="50000"/>
                  </a:schemeClr>
                </a:solidFill>
              </a:rPr>
              <a:t>member</a:t>
            </a:r>
            <a:r>
              <a:rPr lang="es-AR" dirty="0">
                <a:solidFill>
                  <a:schemeClr val="bg2">
                    <a:lumMod val="50000"/>
                  </a:schemeClr>
                </a:solidFill>
              </a:rPr>
              <a:t> vs casual </a:t>
            </a:r>
            <a:r>
              <a:rPr lang="es-AR" dirty="0" err="1">
                <a:solidFill>
                  <a:schemeClr val="bg2">
                    <a:lumMod val="50000"/>
                  </a:schemeClr>
                </a:solidFill>
              </a:rPr>
              <a:t>riding</a:t>
            </a:r>
            <a:r>
              <a:rPr lang="es-AR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s-AR" dirty="0" err="1">
                <a:solidFill>
                  <a:schemeClr val="bg2">
                    <a:lumMod val="50000"/>
                  </a:schemeClr>
                </a:solidFill>
              </a:rPr>
              <a:t>patterns</a:t>
            </a:r>
            <a:endParaRPr lang="en-US" dirty="0">
              <a:solidFill>
                <a:schemeClr val="bg2">
                  <a:lumMod val="50000"/>
                </a:schemeClr>
              </a:solidFill>
            </a:endParaRPr>
          </a:p>
        </p:txBody>
      </p:sp>
      <p:pic>
        <p:nvPicPr>
          <p:cNvPr id="5" name="Picture 4" descr="Icon&#10;&#10;Description automatically generated">
            <a:extLst>
              <a:ext uri="{FF2B5EF4-FFF2-40B4-BE49-F238E27FC236}">
                <a16:creationId xmlns:a16="http://schemas.microsoft.com/office/drawing/2014/main" id="{975B848D-BFC9-448D-98DD-C091AFD0F2C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624" t="12927" r="19008" b="14053"/>
          <a:stretch/>
        </p:blipFill>
        <p:spPr>
          <a:xfrm>
            <a:off x="8097624" y="1378339"/>
            <a:ext cx="1526305" cy="1538998"/>
          </a:xfrm>
          <a:prstGeom prst="ellipse">
            <a:avLst/>
          </a:prstGeom>
        </p:spPr>
      </p:pic>
      <p:sp>
        <p:nvSpPr>
          <p:cNvPr id="8" name="Subtitle 2">
            <a:extLst>
              <a:ext uri="{FF2B5EF4-FFF2-40B4-BE49-F238E27FC236}">
                <a16:creationId xmlns:a16="http://schemas.microsoft.com/office/drawing/2014/main" id="{C72373A9-43AD-4817-B876-2F685AA7C355}"/>
              </a:ext>
            </a:extLst>
          </p:cNvPr>
          <p:cNvSpPr txBox="1">
            <a:spLocks/>
          </p:cNvSpPr>
          <p:nvPr/>
        </p:nvSpPr>
        <p:spPr>
          <a:xfrm>
            <a:off x="714178" y="4694548"/>
            <a:ext cx="7543702" cy="1442301"/>
          </a:xfrm>
          <a:prstGeom prst="rect">
            <a:avLst/>
          </a:prstGeom>
        </p:spPr>
        <p:txBody>
          <a:bodyPr vert="horz" lIns="91440" tIns="45720" rIns="91440" bIns="45720" rtlCol="0">
            <a:normAutofit fontScale="6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70000"/>
              </a:lnSpc>
            </a:pPr>
            <a:r>
              <a:rPr lang="es-AR" dirty="0" err="1">
                <a:solidFill>
                  <a:schemeClr val="bg1">
                    <a:lumMod val="50000"/>
                  </a:schemeClr>
                </a:solidFill>
              </a:rPr>
              <a:t>Presented</a:t>
            </a:r>
            <a:r>
              <a:rPr lang="es-AR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s-AR" dirty="0" err="1">
                <a:solidFill>
                  <a:schemeClr val="bg1">
                    <a:lumMod val="50000"/>
                  </a:schemeClr>
                </a:solidFill>
              </a:rPr>
              <a:t>by</a:t>
            </a:r>
            <a:r>
              <a:rPr lang="es-AR" dirty="0">
                <a:solidFill>
                  <a:schemeClr val="bg1">
                    <a:lumMod val="50000"/>
                  </a:schemeClr>
                </a:solidFill>
              </a:rPr>
              <a:t>: Mariana Mytiliños</a:t>
            </a:r>
          </a:p>
          <a:p>
            <a:pPr algn="l">
              <a:lnSpc>
                <a:spcPct val="170000"/>
              </a:lnSpc>
            </a:pPr>
            <a:r>
              <a:rPr lang="es-AR" dirty="0" err="1">
                <a:solidFill>
                  <a:schemeClr val="bg1">
                    <a:lumMod val="50000"/>
                  </a:schemeClr>
                </a:solidFill>
              </a:rPr>
              <a:t>Last</a:t>
            </a:r>
            <a:r>
              <a:rPr lang="es-AR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s-AR" dirty="0" err="1">
                <a:solidFill>
                  <a:schemeClr val="bg1">
                    <a:lumMod val="50000"/>
                  </a:schemeClr>
                </a:solidFill>
              </a:rPr>
              <a:t>updated</a:t>
            </a:r>
            <a:r>
              <a:rPr lang="es-AR" dirty="0">
                <a:solidFill>
                  <a:schemeClr val="bg1">
                    <a:lumMod val="50000"/>
                  </a:schemeClr>
                </a:solidFill>
              </a:rPr>
              <a:t>: </a:t>
            </a:r>
            <a:r>
              <a:rPr lang="es-AR" dirty="0" err="1">
                <a:solidFill>
                  <a:schemeClr val="bg1">
                    <a:lumMod val="50000"/>
                  </a:schemeClr>
                </a:solidFill>
              </a:rPr>
              <a:t>November</a:t>
            </a:r>
            <a:r>
              <a:rPr lang="es-AR" dirty="0">
                <a:solidFill>
                  <a:schemeClr val="bg1">
                    <a:lumMod val="50000"/>
                  </a:schemeClr>
                </a:solidFill>
              </a:rPr>
              <a:t> 22, 2021</a:t>
            </a:r>
          </a:p>
          <a:p>
            <a:pPr algn="l">
              <a:lnSpc>
                <a:spcPct val="170000"/>
              </a:lnSpc>
            </a:pPr>
            <a:r>
              <a:rPr lang="es-AR" dirty="0">
                <a:solidFill>
                  <a:schemeClr val="bg1">
                    <a:lumMod val="50000"/>
                  </a:schemeClr>
                </a:solidFill>
              </a:rPr>
              <a:t>Google Data </a:t>
            </a:r>
            <a:r>
              <a:rPr lang="es-AR" dirty="0" err="1">
                <a:solidFill>
                  <a:schemeClr val="bg1">
                    <a:lumMod val="50000"/>
                  </a:schemeClr>
                </a:solidFill>
              </a:rPr>
              <a:t>Analytics</a:t>
            </a:r>
            <a:r>
              <a:rPr lang="es-AR" dirty="0">
                <a:solidFill>
                  <a:schemeClr val="bg1">
                    <a:lumMod val="50000"/>
                  </a:schemeClr>
                </a:solidFill>
              </a:rPr>
              <a:t> Professional </a:t>
            </a:r>
            <a:r>
              <a:rPr lang="es-AR" dirty="0" err="1">
                <a:solidFill>
                  <a:schemeClr val="bg1">
                    <a:lumMod val="50000"/>
                  </a:schemeClr>
                </a:solidFill>
              </a:rPr>
              <a:t>Certificate</a:t>
            </a:r>
            <a:r>
              <a:rPr lang="es-AR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s-AR" dirty="0" err="1">
                <a:solidFill>
                  <a:schemeClr val="bg1">
                    <a:lumMod val="50000"/>
                  </a:schemeClr>
                </a:solidFill>
              </a:rPr>
              <a:t>Capstone</a:t>
            </a:r>
            <a:r>
              <a:rPr lang="es-AR" dirty="0">
                <a:solidFill>
                  <a:schemeClr val="bg1">
                    <a:lumMod val="50000"/>
                  </a:schemeClr>
                </a:solidFill>
              </a:rPr>
              <a:t> Project</a:t>
            </a:r>
          </a:p>
          <a:p>
            <a:endParaRPr lang="es-AR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B855F27-4C9D-480F-9D75-02390FC9D6D7}"/>
              </a:ext>
            </a:extLst>
          </p:cNvPr>
          <p:cNvCxnSpPr>
            <a:cxnSpLocks/>
          </p:cNvCxnSpPr>
          <p:nvPr/>
        </p:nvCxnSpPr>
        <p:spPr>
          <a:xfrm>
            <a:off x="886120" y="1378338"/>
            <a:ext cx="0" cy="1525117"/>
          </a:xfrm>
          <a:prstGeom prst="line">
            <a:avLst/>
          </a:prstGeom>
          <a:ln w="76200">
            <a:solidFill>
              <a:srgbClr val="35A19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255443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8FF48C-3E4A-4CD8-906A-8A793524E4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17576" y="2514049"/>
            <a:ext cx="4966874" cy="1325563"/>
          </a:xfrm>
        </p:spPr>
        <p:txBody>
          <a:bodyPr>
            <a:noAutofit/>
          </a:bodyPr>
          <a:lstStyle/>
          <a:p>
            <a:r>
              <a:rPr lang="es-AR" sz="5400" dirty="0" err="1">
                <a:solidFill>
                  <a:schemeClr val="bg1">
                    <a:lumMod val="50000"/>
                  </a:schemeClr>
                </a:solidFill>
              </a:rPr>
              <a:t>Member</a:t>
            </a:r>
            <a:r>
              <a:rPr lang="es-AR" sz="5400" dirty="0">
                <a:solidFill>
                  <a:schemeClr val="bg1">
                    <a:lumMod val="50000"/>
                  </a:schemeClr>
                </a:solidFill>
              </a:rPr>
              <a:t> vs </a:t>
            </a:r>
            <a:br>
              <a:rPr lang="es-AR" sz="5400" dirty="0">
                <a:solidFill>
                  <a:schemeClr val="bg1">
                    <a:lumMod val="50000"/>
                  </a:schemeClr>
                </a:solidFill>
              </a:rPr>
            </a:br>
            <a:r>
              <a:rPr lang="es-AR" sz="5400" dirty="0">
                <a:solidFill>
                  <a:schemeClr val="bg1">
                    <a:lumMod val="50000"/>
                  </a:schemeClr>
                </a:solidFill>
              </a:rPr>
              <a:t>casual </a:t>
            </a:r>
            <a:r>
              <a:rPr lang="es-AR" sz="5400" dirty="0" err="1">
                <a:solidFill>
                  <a:schemeClr val="bg1">
                    <a:lumMod val="50000"/>
                  </a:schemeClr>
                </a:solidFill>
              </a:rPr>
              <a:t>rides</a:t>
            </a:r>
            <a:endParaRPr lang="en-US" sz="5400" dirty="0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33F56B1-4F59-4795-8BCD-9536D824FBE9}"/>
              </a:ext>
            </a:extLst>
          </p:cNvPr>
          <p:cNvCxnSpPr>
            <a:cxnSpLocks/>
          </p:cNvCxnSpPr>
          <p:nvPr/>
        </p:nvCxnSpPr>
        <p:spPr>
          <a:xfrm flipV="1">
            <a:off x="1648906" y="1414020"/>
            <a:ext cx="0" cy="3525623"/>
          </a:xfrm>
          <a:prstGeom prst="line">
            <a:avLst/>
          </a:prstGeom>
          <a:ln w="76200">
            <a:solidFill>
              <a:srgbClr val="35A19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414932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937BA6F-6191-4298-B499-ECC2B42E48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1030" name="Picture 30" descr="Chart, bar chart&#10;&#10;Description automatically generated">
            <a:extLst>
              <a:ext uri="{FF2B5EF4-FFF2-40B4-BE49-F238E27FC236}">
                <a16:creationId xmlns:a16="http://schemas.microsoft.com/office/drawing/2014/main" id="{C25DF13B-5A02-46FA-ABC2-4FE32C221F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85" b="2516"/>
          <a:stretch>
            <a:fillRect/>
          </a:stretch>
        </p:blipFill>
        <p:spPr bwMode="auto">
          <a:xfrm>
            <a:off x="1855918" y="1218214"/>
            <a:ext cx="3949430" cy="39276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9" name="Picture 31" descr="Chart, bar chart, funnel chart&#10;&#10;Description automatically generated">
            <a:extLst>
              <a:ext uri="{FF2B5EF4-FFF2-40B4-BE49-F238E27FC236}">
                <a16:creationId xmlns:a16="http://schemas.microsoft.com/office/drawing/2014/main" id="{8CE6C445-BC25-436C-B3C1-E19F9EF25E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8621" y="1183537"/>
            <a:ext cx="3985131" cy="38708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7">
            <a:extLst>
              <a:ext uri="{FF2B5EF4-FFF2-40B4-BE49-F238E27FC236}">
                <a16:creationId xmlns:a16="http://schemas.microsoft.com/office/drawing/2014/main" id="{20D6BACE-1584-457D-88F1-86261F7892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1" name="Rectangle 8">
            <a:extLst>
              <a:ext uri="{FF2B5EF4-FFF2-40B4-BE49-F238E27FC236}">
                <a16:creationId xmlns:a16="http://schemas.microsoft.com/office/drawing/2014/main" id="{3C324748-369C-4DC7-AA49-64C96B7C4E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55918" y="5508981"/>
            <a:ext cx="5466945" cy="2616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Figure 1: Member and casual rides per day of the week. Source: Tableau Online.</a:t>
            </a: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936993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3" descr="Chart, bubble chart&#10;&#10;Description automatically generated">
            <a:extLst>
              <a:ext uri="{FF2B5EF4-FFF2-40B4-BE49-F238E27FC236}">
                <a16:creationId xmlns:a16="http://schemas.microsoft.com/office/drawing/2014/main" id="{65B242DB-BD08-4A0F-9849-0AFF08E7D7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1498"/>
          <a:stretch>
            <a:fillRect/>
          </a:stretch>
        </p:blipFill>
        <p:spPr bwMode="auto">
          <a:xfrm>
            <a:off x="1875344" y="857751"/>
            <a:ext cx="4054116" cy="44931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49" name="Picture 5" descr="Chart, bubble chart&#10;&#10;Description automatically generated">
            <a:extLst>
              <a:ext uri="{FF2B5EF4-FFF2-40B4-BE49-F238E27FC236}">
                <a16:creationId xmlns:a16="http://schemas.microsoft.com/office/drawing/2014/main" id="{CF1F1305-1335-4425-AFD3-A0EA68E7FC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4350"/>
          <a:stretch>
            <a:fillRect/>
          </a:stretch>
        </p:blipFill>
        <p:spPr bwMode="auto">
          <a:xfrm>
            <a:off x="6367160" y="857752"/>
            <a:ext cx="3886655" cy="44931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8DB796D7-C306-4489-AB47-93A239EEBC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B68C7C3-1D7A-4261-8D9C-F99D3C61B7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75344" y="5751480"/>
            <a:ext cx="6111065" cy="2616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Figure 2: Member and casual average ride length per day of the week. Source: Tableau Online.</a:t>
            </a: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07867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8" descr="Chart, line chart&#10;&#10;Description automatically generated">
            <a:extLst>
              <a:ext uri="{FF2B5EF4-FFF2-40B4-BE49-F238E27FC236}">
                <a16:creationId xmlns:a16="http://schemas.microsoft.com/office/drawing/2014/main" id="{422B40AD-C5BF-489C-B1F2-4EFF65C880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2494" y="1202967"/>
            <a:ext cx="5037307" cy="40469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3" name="Picture 9" descr="Chart, line chart&#10;&#10;Description automatically generated">
            <a:extLst>
              <a:ext uri="{FF2B5EF4-FFF2-40B4-BE49-F238E27FC236}">
                <a16:creationId xmlns:a16="http://schemas.microsoft.com/office/drawing/2014/main" id="{26A7C5B8-20C8-47DE-930A-1D1850EE52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89017" y="1202968"/>
            <a:ext cx="5043027" cy="40469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2FD3B4BA-E5D1-4599-BA68-9158A7834D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9C72BD8-5716-4DEF-84F9-40A126C6BE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2494" y="5628152"/>
            <a:ext cx="8210144" cy="2616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Figure 3: Member and casual number of rides and average ride length per spring and summer months. Source: Tableau Online.</a:t>
            </a: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32495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10" descr="Chart, line chart&#10;&#10;Description automatically generated">
            <a:extLst>
              <a:ext uri="{FF2B5EF4-FFF2-40B4-BE49-F238E27FC236}">
                <a16:creationId xmlns:a16="http://schemas.microsoft.com/office/drawing/2014/main" id="{9C25968B-6103-4049-AB40-2B46A27AAA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0565" y="1253765"/>
            <a:ext cx="5071820" cy="39659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97" name="Picture 12" descr="Chart, line chart&#10;&#10;Description automatically generated">
            <a:extLst>
              <a:ext uri="{FF2B5EF4-FFF2-40B4-BE49-F238E27FC236}">
                <a16:creationId xmlns:a16="http://schemas.microsoft.com/office/drawing/2014/main" id="{290A6CCC-8BA3-40C1-9523-F9A241D6A1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6796" y="1253765"/>
            <a:ext cx="5153672" cy="39659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3">
            <a:extLst>
              <a:ext uri="{FF2B5EF4-FFF2-40B4-BE49-F238E27FC236}">
                <a16:creationId xmlns:a16="http://schemas.microsoft.com/office/drawing/2014/main" id="{16E16040-F9E1-4278-B148-2897CE3718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D9568DB7-61CD-400E-A84B-DA8EB4EC9C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6796" y="5618685"/>
            <a:ext cx="8078566" cy="2616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Figure 4: Member and casual number of rides and average ride length per autumn and winter months. Source: Tableau.</a:t>
            </a:r>
            <a:r>
              <a:rPr lang="en-US" altLang="en-US" sz="1100" dirty="0">
                <a:solidFill>
                  <a:srgbClr val="808080"/>
                </a:solidFill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Online.</a:t>
            </a: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32476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8FF48C-3E4A-4CD8-906A-8A793524E4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70433" y="2532902"/>
            <a:ext cx="6935481" cy="1325563"/>
          </a:xfrm>
        </p:spPr>
        <p:txBody>
          <a:bodyPr>
            <a:noAutofit/>
          </a:bodyPr>
          <a:lstStyle/>
          <a:p>
            <a:r>
              <a:rPr lang="es-AR" sz="5400" dirty="0" err="1">
                <a:solidFill>
                  <a:schemeClr val="bg1">
                    <a:lumMod val="50000"/>
                  </a:schemeClr>
                </a:solidFill>
              </a:rPr>
              <a:t>Member</a:t>
            </a:r>
            <a:r>
              <a:rPr lang="es-AR" sz="5400" dirty="0">
                <a:solidFill>
                  <a:schemeClr val="bg1">
                    <a:lumMod val="50000"/>
                  </a:schemeClr>
                </a:solidFill>
              </a:rPr>
              <a:t> vs casual </a:t>
            </a:r>
            <a:br>
              <a:rPr lang="es-AR" sz="5400" dirty="0">
                <a:solidFill>
                  <a:schemeClr val="bg1">
                    <a:lumMod val="50000"/>
                  </a:schemeClr>
                </a:solidFill>
              </a:rPr>
            </a:br>
            <a:r>
              <a:rPr lang="es-AR" sz="5400" dirty="0" err="1">
                <a:solidFill>
                  <a:schemeClr val="bg1">
                    <a:lumMod val="50000"/>
                  </a:schemeClr>
                </a:solidFill>
              </a:rPr>
              <a:t>bike</a:t>
            </a:r>
            <a:r>
              <a:rPr lang="es-AR" sz="54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s-AR" sz="5400" dirty="0" err="1">
                <a:solidFill>
                  <a:schemeClr val="bg1">
                    <a:lumMod val="50000"/>
                  </a:schemeClr>
                </a:solidFill>
              </a:rPr>
              <a:t>type</a:t>
            </a:r>
            <a:r>
              <a:rPr lang="es-AR" sz="54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s-AR" sz="5400" dirty="0" err="1">
                <a:solidFill>
                  <a:schemeClr val="bg1">
                    <a:lumMod val="50000"/>
                  </a:schemeClr>
                </a:solidFill>
              </a:rPr>
              <a:t>selection</a:t>
            </a:r>
            <a:endParaRPr lang="en-US" sz="5400" dirty="0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33F56B1-4F59-4795-8BCD-9536D824FBE9}"/>
              </a:ext>
            </a:extLst>
          </p:cNvPr>
          <p:cNvCxnSpPr>
            <a:cxnSpLocks/>
          </p:cNvCxnSpPr>
          <p:nvPr/>
        </p:nvCxnSpPr>
        <p:spPr>
          <a:xfrm flipV="1">
            <a:off x="1648906" y="1414020"/>
            <a:ext cx="0" cy="3525623"/>
          </a:xfrm>
          <a:prstGeom prst="line">
            <a:avLst/>
          </a:prstGeom>
          <a:ln w="76200">
            <a:solidFill>
              <a:srgbClr val="35A19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628100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14" descr="Chart, bubble chart&#10;&#10;Description automatically generated">
            <a:extLst>
              <a:ext uri="{FF2B5EF4-FFF2-40B4-BE49-F238E27FC236}">
                <a16:creationId xmlns:a16="http://schemas.microsoft.com/office/drawing/2014/main" id="{5FD1442B-DCAF-458B-8CC7-AA1F6E039E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1308" y="1376313"/>
            <a:ext cx="4932781" cy="38885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1" name="Picture 15" descr="Chart, bubble chart&#10;&#10;Description automatically generated">
            <a:extLst>
              <a:ext uri="{FF2B5EF4-FFF2-40B4-BE49-F238E27FC236}">
                <a16:creationId xmlns:a16="http://schemas.microsoft.com/office/drawing/2014/main" id="{E2960033-8A59-43EB-8F5A-F3A2CAAD06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57913" y="1376312"/>
            <a:ext cx="5174629" cy="38885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3">
            <a:extLst>
              <a:ext uri="{FF2B5EF4-FFF2-40B4-BE49-F238E27FC236}">
                <a16:creationId xmlns:a16="http://schemas.microsoft.com/office/drawing/2014/main" id="{2EAA8E91-6843-41C5-97D4-6DCA5B04FA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825E6109-9238-47D9-9390-B730CC059A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1308" y="5659182"/>
            <a:ext cx="6828816" cy="2616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Figure 5: Member and casual bike type selection per spring and summer months. Source: Tableau Online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978579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16" descr="Chart, bubble chart&#10;&#10;Description automatically generated">
            <a:extLst>
              <a:ext uri="{FF2B5EF4-FFF2-40B4-BE49-F238E27FC236}">
                <a16:creationId xmlns:a16="http://schemas.microsoft.com/office/drawing/2014/main" id="{7E575406-3B0D-423A-998A-45134F9125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7627" y="1404595"/>
            <a:ext cx="5128373" cy="39012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5" name="Picture 17" descr="Chart, bubble chart&#10;&#10;Description automatically generated">
            <a:extLst>
              <a:ext uri="{FF2B5EF4-FFF2-40B4-BE49-F238E27FC236}">
                <a16:creationId xmlns:a16="http://schemas.microsoft.com/office/drawing/2014/main" id="{D59A84D1-C267-42C6-916C-EECB65EA8B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7906" y="1404595"/>
            <a:ext cx="5058716" cy="39012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3">
            <a:extLst>
              <a:ext uri="{FF2B5EF4-FFF2-40B4-BE49-F238E27FC236}">
                <a16:creationId xmlns:a16="http://schemas.microsoft.com/office/drawing/2014/main" id="{2E28947C-1405-4DC0-964F-A02C55121C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4D20A6CB-22A8-4500-A5B8-0EFFEB3A0C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7627" y="5618067"/>
            <a:ext cx="6807538" cy="2616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Figure 6: Member and casual bike type selection per autumn and winter months. Source: Tableau Online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07762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>
            <a:extLst>
              <a:ext uri="{FF2B5EF4-FFF2-40B4-BE49-F238E27FC236}">
                <a16:creationId xmlns:a16="http://schemas.microsoft.com/office/drawing/2014/main" id="{06F07F3D-6608-435B-A8AE-C2F0C73BB5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FFBEBAB6-E000-4D27-8E41-B93F99CFFB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24518" y="6332728"/>
            <a:ext cx="8112868" cy="2616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Figure 7: Member and casual bike type selection per day of the week for spring and summer months. Source: Tableau Online.</a:t>
            </a: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" name="Picture 4" descr="Chart, bubble chart&#10;&#10;Description automatically generated">
            <a:extLst>
              <a:ext uri="{FF2B5EF4-FFF2-40B4-BE49-F238E27FC236}">
                <a16:creationId xmlns:a16="http://schemas.microsoft.com/office/drawing/2014/main" id="{76420D8F-A9F7-4C25-B11C-307E15EC06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6936" y="228600"/>
            <a:ext cx="3665538" cy="5875528"/>
          </a:xfrm>
          <a:prstGeom prst="rect">
            <a:avLst/>
          </a:prstGeom>
        </p:spPr>
      </p:pic>
      <p:pic>
        <p:nvPicPr>
          <p:cNvPr id="7" name="Picture 6" descr="Chart, bubble chart&#10;&#10;Description automatically generated">
            <a:extLst>
              <a:ext uri="{FF2B5EF4-FFF2-40B4-BE49-F238E27FC236}">
                <a16:creationId xmlns:a16="http://schemas.microsoft.com/office/drawing/2014/main" id="{EBC8A021-938A-4A43-96B4-4E86C30F05D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4518" y="228600"/>
            <a:ext cx="3665537" cy="5875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09337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>
            <a:extLst>
              <a:ext uri="{FF2B5EF4-FFF2-40B4-BE49-F238E27FC236}">
                <a16:creationId xmlns:a16="http://schemas.microsoft.com/office/drawing/2014/main" id="{EB90C311-344F-466D-8E4B-612688010F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29426C42-CF0D-440F-9799-8791DE0A3B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6668" y="6367789"/>
            <a:ext cx="8167723" cy="2616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Figure 8: Member and casual bike type selection per day of the week for autumn and winter months. Source: Tableau Online.</a:t>
            </a: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" name="Picture 4" descr="Chart, bubble chart&#10;&#10;Description automatically generated">
            <a:extLst>
              <a:ext uri="{FF2B5EF4-FFF2-40B4-BE49-F238E27FC236}">
                <a16:creationId xmlns:a16="http://schemas.microsoft.com/office/drawing/2014/main" id="{26D5D058-AECE-4309-AD8D-076BFB7C92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13129" y="228600"/>
            <a:ext cx="3768615" cy="5929008"/>
          </a:xfrm>
          <a:prstGeom prst="rect">
            <a:avLst/>
          </a:prstGeom>
        </p:spPr>
      </p:pic>
      <p:pic>
        <p:nvPicPr>
          <p:cNvPr id="7" name="Picture 6" descr="Chart, bubble chart&#10;&#10;Description automatically generated">
            <a:extLst>
              <a:ext uri="{FF2B5EF4-FFF2-40B4-BE49-F238E27FC236}">
                <a16:creationId xmlns:a16="http://schemas.microsoft.com/office/drawing/2014/main" id="{F170CFC1-3247-4A91-87E4-63C5FA3067A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6668" y="228601"/>
            <a:ext cx="3585995" cy="5929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16757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8FF48C-3E4A-4CD8-906A-8A793524E4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70433" y="2532902"/>
            <a:ext cx="6935481" cy="1325563"/>
          </a:xfrm>
        </p:spPr>
        <p:txBody>
          <a:bodyPr>
            <a:noAutofit/>
          </a:bodyPr>
          <a:lstStyle/>
          <a:p>
            <a:r>
              <a:rPr lang="es-AR" sz="5400" dirty="0" err="1">
                <a:solidFill>
                  <a:schemeClr val="bg1">
                    <a:lumMod val="50000"/>
                  </a:schemeClr>
                </a:solidFill>
              </a:rPr>
              <a:t>Member</a:t>
            </a:r>
            <a:r>
              <a:rPr lang="es-AR" sz="5400" dirty="0">
                <a:solidFill>
                  <a:schemeClr val="bg1">
                    <a:lumMod val="50000"/>
                  </a:schemeClr>
                </a:solidFill>
              </a:rPr>
              <a:t> vs casual </a:t>
            </a:r>
            <a:r>
              <a:rPr lang="es-AR" sz="5400" dirty="0" err="1">
                <a:solidFill>
                  <a:schemeClr val="bg1">
                    <a:lumMod val="50000"/>
                  </a:schemeClr>
                </a:solidFill>
              </a:rPr>
              <a:t>rides</a:t>
            </a:r>
            <a:br>
              <a:rPr lang="es-AR" sz="5400" dirty="0">
                <a:solidFill>
                  <a:schemeClr val="bg1">
                    <a:lumMod val="50000"/>
                  </a:schemeClr>
                </a:solidFill>
              </a:rPr>
            </a:br>
            <a:r>
              <a:rPr lang="es-AR" sz="5400" dirty="0">
                <a:solidFill>
                  <a:schemeClr val="bg1">
                    <a:lumMod val="50000"/>
                  </a:schemeClr>
                </a:solidFill>
              </a:rPr>
              <a:t>top </a:t>
            </a:r>
            <a:r>
              <a:rPr lang="es-AR" sz="5400" dirty="0" err="1">
                <a:solidFill>
                  <a:schemeClr val="bg1">
                    <a:lumMod val="50000"/>
                  </a:schemeClr>
                </a:solidFill>
              </a:rPr>
              <a:t>start</a:t>
            </a:r>
            <a:r>
              <a:rPr lang="es-AR" sz="54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s-AR" sz="5400" dirty="0" err="1">
                <a:solidFill>
                  <a:schemeClr val="bg1">
                    <a:lumMod val="50000"/>
                  </a:schemeClr>
                </a:solidFill>
              </a:rPr>
              <a:t>stations</a:t>
            </a:r>
            <a:endParaRPr lang="en-US" sz="5400" dirty="0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33F56B1-4F59-4795-8BCD-9536D824FBE9}"/>
              </a:ext>
            </a:extLst>
          </p:cNvPr>
          <p:cNvCxnSpPr>
            <a:cxnSpLocks/>
          </p:cNvCxnSpPr>
          <p:nvPr/>
        </p:nvCxnSpPr>
        <p:spPr>
          <a:xfrm flipV="1">
            <a:off x="1648906" y="1414020"/>
            <a:ext cx="0" cy="3525623"/>
          </a:xfrm>
          <a:prstGeom prst="line">
            <a:avLst/>
          </a:prstGeom>
          <a:ln w="76200">
            <a:solidFill>
              <a:srgbClr val="35A19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769935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2" descr="Chart&#10;&#10;Description automatically generated">
            <a:extLst>
              <a:ext uri="{FF2B5EF4-FFF2-40B4-BE49-F238E27FC236}">
                <a16:creationId xmlns:a16="http://schemas.microsoft.com/office/drawing/2014/main" id="{3E353984-0388-4D3A-A7C5-4B04AAC6307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614"/>
          <a:stretch/>
        </p:blipFill>
        <p:spPr bwMode="auto">
          <a:xfrm>
            <a:off x="996729" y="1494516"/>
            <a:ext cx="4967296" cy="38689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17" name="Picture 23" descr="Chart&#10;&#10;Description automatically generated">
            <a:extLst>
              <a:ext uri="{FF2B5EF4-FFF2-40B4-BE49-F238E27FC236}">
                <a16:creationId xmlns:a16="http://schemas.microsoft.com/office/drawing/2014/main" id="{A1B8806C-BC13-451A-9355-7DA79A2CB1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221"/>
          <a:stretch>
            <a:fillRect/>
          </a:stretch>
        </p:blipFill>
        <p:spPr bwMode="auto">
          <a:xfrm>
            <a:off x="6327056" y="1511013"/>
            <a:ext cx="4994535" cy="38689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9BA49CBB-2EFD-41C0-BA66-1E29BE29BD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B3C66ED-B781-45B9-A39F-3ECB68BE47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6729" y="5701642"/>
            <a:ext cx="7500026" cy="2616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Figure 9: Member and casual top 15 start stations for spring and summer months. Source: Tableau Online.</a:t>
            </a: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27360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4" descr="Chart&#10;&#10;Description automatically generated">
            <a:extLst>
              <a:ext uri="{FF2B5EF4-FFF2-40B4-BE49-F238E27FC236}">
                <a16:creationId xmlns:a16="http://schemas.microsoft.com/office/drawing/2014/main" id="{4C3F610A-9DB6-46D3-B68B-E650BF38EB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3792" y="1484691"/>
            <a:ext cx="5082208" cy="38886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41" name="Picture 25" descr="Chart, funnel chart&#10;&#10;Description automatically generated">
            <a:extLst>
              <a:ext uri="{FF2B5EF4-FFF2-40B4-BE49-F238E27FC236}">
                <a16:creationId xmlns:a16="http://schemas.microsoft.com/office/drawing/2014/main" id="{324EAE3E-62F7-4974-BCC1-BBCBA5EDC9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60144" y="1484691"/>
            <a:ext cx="4950705" cy="38846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3">
            <a:extLst>
              <a:ext uri="{FF2B5EF4-FFF2-40B4-BE49-F238E27FC236}">
                <a16:creationId xmlns:a16="http://schemas.microsoft.com/office/drawing/2014/main" id="{010E113F-671E-4981-9825-103CA40037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57CEEC2E-00A1-4126-94DF-37A99732B6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3792" y="5655291"/>
            <a:ext cx="7733489" cy="2616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Figure 10: Member and casual top 15 start stations for autumn and winter months. Source: Tableau Online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21353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6" descr="Chart&#10;&#10;Description automatically generated">
            <a:extLst>
              <a:ext uri="{FF2B5EF4-FFF2-40B4-BE49-F238E27FC236}">
                <a16:creationId xmlns:a16="http://schemas.microsoft.com/office/drawing/2014/main" id="{B626365D-464F-4586-B384-BD24FDC595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0303" y="1536571"/>
            <a:ext cx="4845987" cy="37971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265" name="Picture 27" descr="Chart, funnel chart&#10;&#10;Description automatically generated">
            <a:extLst>
              <a:ext uri="{FF2B5EF4-FFF2-40B4-BE49-F238E27FC236}">
                <a16:creationId xmlns:a16="http://schemas.microsoft.com/office/drawing/2014/main" id="{FF60C4EB-7007-4B41-8A6E-58F3AFC51D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81127" y="1536571"/>
            <a:ext cx="4760570" cy="37971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3">
            <a:extLst>
              <a:ext uri="{FF2B5EF4-FFF2-40B4-BE49-F238E27FC236}">
                <a16:creationId xmlns:a16="http://schemas.microsoft.com/office/drawing/2014/main" id="{D6BFA3F8-4BD4-41EC-863A-A1F61AD754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26068FF1-4956-4F16-BD0A-65C7559289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50303" y="5600798"/>
            <a:ext cx="9601200" cy="2616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Figure 11: Member and casual top 15 start stations for weekdays. Source: Tableau Online.</a:t>
            </a: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1541013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8" descr="Chart&#10;&#10;Description automatically generated">
            <a:extLst>
              <a:ext uri="{FF2B5EF4-FFF2-40B4-BE49-F238E27FC236}">
                <a16:creationId xmlns:a16="http://schemas.microsoft.com/office/drawing/2014/main" id="{05BA7795-C7F2-4435-ABE6-C6CC0378D7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8943" y="1560203"/>
            <a:ext cx="4880364" cy="37375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289" name="Picture 29" descr="Chart&#10;&#10;Description automatically generated">
            <a:extLst>
              <a:ext uri="{FF2B5EF4-FFF2-40B4-BE49-F238E27FC236}">
                <a16:creationId xmlns:a16="http://schemas.microsoft.com/office/drawing/2014/main" id="{69396B9A-22B5-4CF5-B64F-FC92CC686B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84653" y="1556550"/>
            <a:ext cx="4748404" cy="37412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3">
            <a:extLst>
              <a:ext uri="{FF2B5EF4-FFF2-40B4-BE49-F238E27FC236}">
                <a16:creationId xmlns:a16="http://schemas.microsoft.com/office/drawing/2014/main" id="{0F15B300-2E05-4B6A-85EA-34619030C6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68E2E878-062C-436D-B42F-44C9E739B4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58943" y="5591035"/>
            <a:ext cx="7986409" cy="2616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Figure 12: Member and casual top 15 start stations for weekends. Source: Tableau Online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0540519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215DB5-1E4C-43F9-9B78-0FF4736245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2184" y="2766218"/>
            <a:ext cx="4147631" cy="1325563"/>
          </a:xfrm>
        </p:spPr>
        <p:txBody>
          <a:bodyPr>
            <a:normAutofit/>
          </a:bodyPr>
          <a:lstStyle/>
          <a:p>
            <a:r>
              <a:rPr lang="es-AR" sz="6000" b="1" dirty="0" err="1">
                <a:solidFill>
                  <a:srgbClr val="35A197"/>
                </a:solidFill>
              </a:rPr>
              <a:t>Thank</a:t>
            </a:r>
            <a:r>
              <a:rPr lang="es-AR" sz="6000" b="1" dirty="0">
                <a:solidFill>
                  <a:srgbClr val="35A197"/>
                </a:solidFill>
              </a:rPr>
              <a:t> </a:t>
            </a:r>
            <a:r>
              <a:rPr lang="es-AR" sz="6000" b="1" dirty="0" err="1">
                <a:solidFill>
                  <a:srgbClr val="35A197"/>
                </a:solidFill>
              </a:rPr>
              <a:t>you</a:t>
            </a:r>
            <a:endParaRPr lang="en-US" sz="6000" b="1" dirty="0">
              <a:solidFill>
                <a:srgbClr val="35A197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2851293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8FF48C-3E4A-4CD8-906A-8A793524E4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89000" y="1941512"/>
            <a:ext cx="4966874" cy="1325563"/>
          </a:xfrm>
        </p:spPr>
        <p:txBody>
          <a:bodyPr>
            <a:noAutofit/>
          </a:bodyPr>
          <a:lstStyle/>
          <a:p>
            <a:r>
              <a:rPr lang="es-AR" sz="5400" dirty="0" err="1">
                <a:solidFill>
                  <a:schemeClr val="bg1">
                    <a:lumMod val="50000"/>
                  </a:schemeClr>
                </a:solidFill>
              </a:rPr>
              <a:t>Appendix</a:t>
            </a:r>
            <a:endParaRPr lang="en-US" sz="5400" dirty="0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33F56B1-4F59-4795-8BCD-9536D824FBE9}"/>
              </a:ext>
            </a:extLst>
          </p:cNvPr>
          <p:cNvCxnSpPr>
            <a:cxnSpLocks/>
          </p:cNvCxnSpPr>
          <p:nvPr/>
        </p:nvCxnSpPr>
        <p:spPr>
          <a:xfrm flipV="1">
            <a:off x="1648906" y="1414020"/>
            <a:ext cx="0" cy="3525623"/>
          </a:xfrm>
          <a:prstGeom prst="line">
            <a:avLst/>
          </a:prstGeom>
          <a:ln w="76200">
            <a:solidFill>
              <a:srgbClr val="35A19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C744E403-EB29-45A0-976E-23245E190191}"/>
              </a:ext>
            </a:extLst>
          </p:cNvPr>
          <p:cNvSpPr txBox="1">
            <a:spLocks/>
          </p:cNvSpPr>
          <p:nvPr/>
        </p:nvSpPr>
        <p:spPr>
          <a:xfrm>
            <a:off x="2689000" y="2928144"/>
            <a:ext cx="5816813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AR" sz="4000" dirty="0" err="1">
                <a:solidFill>
                  <a:schemeClr val="bg1">
                    <a:lumMod val="50000"/>
                  </a:schemeClr>
                </a:solidFill>
              </a:rPr>
              <a:t>Tableau</a:t>
            </a:r>
            <a:r>
              <a:rPr lang="es-AR" sz="40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s-AR" sz="4000" dirty="0" err="1">
                <a:solidFill>
                  <a:schemeClr val="bg1">
                    <a:lumMod val="50000"/>
                  </a:schemeClr>
                </a:solidFill>
              </a:rPr>
              <a:t>dashboards</a:t>
            </a:r>
            <a:endParaRPr lang="en-US" sz="40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758691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 descr="Chart, bubble chart&#10;&#10;Description automatically generated">
            <a:extLst>
              <a:ext uri="{FF2B5EF4-FFF2-40B4-BE49-F238E27FC236}">
                <a16:creationId xmlns:a16="http://schemas.microsoft.com/office/drawing/2014/main" id="{F69E3271-8F9C-46D4-8AFE-2C7892C2A84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7793" y="0"/>
            <a:ext cx="8616413" cy="6853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6932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Content Placeholder 8" descr="Chart, line chart&#10;&#10;Description automatically generated">
            <a:extLst>
              <a:ext uri="{FF2B5EF4-FFF2-40B4-BE49-F238E27FC236}">
                <a16:creationId xmlns:a16="http://schemas.microsoft.com/office/drawing/2014/main" id="{B3ABC021-138B-4457-81DC-A71AF2308CD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46565" y="0"/>
            <a:ext cx="8498870" cy="6858000"/>
          </a:xfrm>
        </p:spPr>
      </p:pic>
    </p:spTree>
    <p:extLst>
      <p:ext uri="{BB962C8B-B14F-4D97-AF65-F5344CB8AC3E}">
        <p14:creationId xmlns:p14="http://schemas.microsoft.com/office/powerpoint/2010/main" val="131685561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Chart, bubble chart&#10;&#10;Description automatically generated">
            <a:extLst>
              <a:ext uri="{FF2B5EF4-FFF2-40B4-BE49-F238E27FC236}">
                <a16:creationId xmlns:a16="http://schemas.microsoft.com/office/drawing/2014/main" id="{1A2A1251-710E-4E03-8002-3DC5D671E0D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6926" y="0"/>
            <a:ext cx="8538148" cy="6858000"/>
          </a:xfrm>
        </p:spPr>
      </p:pic>
    </p:spTree>
    <p:extLst>
      <p:ext uri="{BB962C8B-B14F-4D97-AF65-F5344CB8AC3E}">
        <p14:creationId xmlns:p14="http://schemas.microsoft.com/office/powerpoint/2010/main" val="41863323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Chart&#10;&#10;Description automatically generated">
            <a:extLst>
              <a:ext uri="{FF2B5EF4-FFF2-40B4-BE49-F238E27FC236}">
                <a16:creationId xmlns:a16="http://schemas.microsoft.com/office/drawing/2014/main" id="{36D6980A-8572-49C2-BE29-0A6CC829943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4316" y="0"/>
            <a:ext cx="8403367" cy="6858000"/>
          </a:xfrm>
        </p:spPr>
      </p:pic>
    </p:spTree>
    <p:extLst>
      <p:ext uri="{BB962C8B-B14F-4D97-AF65-F5344CB8AC3E}">
        <p14:creationId xmlns:p14="http://schemas.microsoft.com/office/powerpoint/2010/main" val="335817052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hart, bar chart&#10;&#10;Description automatically generated">
            <a:extLst>
              <a:ext uri="{FF2B5EF4-FFF2-40B4-BE49-F238E27FC236}">
                <a16:creationId xmlns:a16="http://schemas.microsoft.com/office/drawing/2014/main" id="{A556EF38-E567-440A-9D08-CDCE8ABD19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0038" y="0"/>
            <a:ext cx="847192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119533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Chart, bar chart&#10;&#10;Description automatically generated">
            <a:extLst>
              <a:ext uri="{FF2B5EF4-FFF2-40B4-BE49-F238E27FC236}">
                <a16:creationId xmlns:a16="http://schemas.microsoft.com/office/drawing/2014/main" id="{3FF0761D-257D-444E-8BD7-E22DB617207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43133" y="0"/>
            <a:ext cx="850573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39945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354</TotalTime>
  <Words>309</Words>
  <Application>Microsoft Office PowerPoint</Application>
  <PresentationFormat>Widescreen</PresentationFormat>
  <Paragraphs>23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9" baseType="lpstr">
      <vt:lpstr>Arial</vt:lpstr>
      <vt:lpstr>Calibri</vt:lpstr>
      <vt:lpstr>Calibri Light</vt:lpstr>
      <vt:lpstr>Roboto</vt:lpstr>
      <vt:lpstr>Office Theme</vt:lpstr>
      <vt:lpstr>Cyclistic Bike Share</vt:lpstr>
      <vt:lpstr>Member vs  casual rides</vt:lpstr>
      <vt:lpstr>PowerPoint Presentation</vt:lpstr>
      <vt:lpstr>PowerPoint Presentation</vt:lpstr>
      <vt:lpstr>PowerPoint Presentation</vt:lpstr>
      <vt:lpstr>PowerPoint Presentation</vt:lpstr>
      <vt:lpstr>Member vs casual  bike type selection</vt:lpstr>
      <vt:lpstr>PowerPoint Presentation</vt:lpstr>
      <vt:lpstr>PowerPoint Presentation</vt:lpstr>
      <vt:lpstr>PowerPoint Presentation</vt:lpstr>
      <vt:lpstr>PowerPoint Presentation</vt:lpstr>
      <vt:lpstr>Member vs casual rides top start stations</vt:lpstr>
      <vt:lpstr>PowerPoint Presentation</vt:lpstr>
      <vt:lpstr>PowerPoint Presentation</vt:lpstr>
      <vt:lpstr>PowerPoint Presentation</vt:lpstr>
      <vt:lpstr>PowerPoint Presentation</vt:lpstr>
      <vt:lpstr>Thank you</vt:lpstr>
      <vt:lpstr>Appendix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Cyclistic Bike Share</dc:title>
  <dc:creator>Mytiliños, Mariana</dc:creator>
  <cp:lastModifiedBy>Mytiliños, Mariana</cp:lastModifiedBy>
  <cp:revision>34</cp:revision>
  <dcterms:created xsi:type="dcterms:W3CDTF">2021-11-22T12:53:46Z</dcterms:created>
  <dcterms:modified xsi:type="dcterms:W3CDTF">2021-11-22T19:28:30Z</dcterms:modified>
</cp:coreProperties>
</file>